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"/>
            <a:ext cx="32004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AI · EARLY ACCESS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SebilAI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ሰብል AI  ·  Crop Disease Advisor for Ethiopian Farmers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55+ diseases across 11 crops in 6 Ethiopian languages — offline, free, grounded in 42+ peer-reviewed Ethiopian research papers.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Gulilat Kasiye Worku  ·  ጉልላት ካስዬ ዎርቁ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Ethiopian farmers fight diseases they can't name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3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697480" y="1554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farming families depend on disease-vulnerable crops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3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9748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 when Tuta absoluta or Bacterial Wilt go untreated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3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9748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extension officer to reach a remote farm — if at 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2606040" cy="2926080"/>
          </a:xfrm>
          <a:prstGeom prst="rect">
            <a:avLst/>
          </a:prstGeom>
          <a:solidFill>
            <a:srgbClr val="EAF1DC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993392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 absoluta (invasive since 2012) now causes 80–100% tomato losses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Enset Bacterial Wilt infects up to 80% of Ethiopian enset farms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Ug99 stem rust can wipe out 100% of susceptible varieties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tool speaks Amharic, Oromo, Tigrinya, Somali, Afar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pocket agronomist that works without internet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C57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 a photo. Tap symptoms. Get a research-grounded diagnosis in 10 seconds — in your language.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+ Symptoms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(Groq Llama Vision) reads the leaf and the farmer's words.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PWA — install once, diagnose forever. No data plan required.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3444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 NDVI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vegetation health adds field-level context.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42900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4068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Ethiopian Languages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Amharic · Afaan Oromo · Tigrinya · Somali · Afar.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SebilAI ≠ existing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310896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SebilAI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 Plantwise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0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Ethiopian crops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11 (incl. Noug, Tomato, Onion)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(limited)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Ethiopian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+ 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(PWA)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NDVI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Research-grounded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42+ Ethiopian 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farmer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11 crops Ethiopian farmers actually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70432" y="148132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Wilt (Xcm)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464" y="137160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06624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82696" y="148132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82696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Rust · Head Smudge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1371600"/>
            <a:ext cx="1993392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🌻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94960" y="148132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Alternaria Leaf Spot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93992" y="137160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31152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507224" y="148132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07224" y="18288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Stem Rust (Ug99)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496312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606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🌽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70432" y="26060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0432" y="29535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Armyworm · NLB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9464" y="2496312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06624" y="2606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82696" y="26060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82696" y="29535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Disease · Wilt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2496312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2606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🥔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394960" y="26060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Potato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9535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93992" y="2496312"/>
            <a:ext cx="1993392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31152" y="2606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🍅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507224" y="260604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Tomato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07224" y="29535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 absoluta · Late Blight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621024"/>
            <a:ext cx="1993392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🧅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170432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70432" y="40782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Blotch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9464" y="3621024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06624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3282696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Barley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282696" y="40782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Scald · Net Blotch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81728" y="3621024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18888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5394960" y="37307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Sorghum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4960" y="40782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Striga · Anthracnose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93992" y="3621024"/>
            <a:ext cx="1993392" cy="960120"/>
          </a:xfrm>
          <a:prstGeom prst="rect">
            <a:avLst/>
          </a:prstGeom>
          <a:solidFill>
            <a:srgbClr val="EAF1DC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3794760"/>
            <a:ext cx="146304" cy="14630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Newly added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4944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Noug · Tomato · Onion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4709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8229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🌻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27432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ኑግ  ·  Guizotia abyssinica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2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Ethiopian oilseed — domesticated &gt;5,000 years ago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0" y="365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640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AI tool to cover Ethiopia's native oilseed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2336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Noug grown in Ethiopia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285k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235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cultivated annually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237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Ethiopian papers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SebilAI diagnoses: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3383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Alternaria Leaf Spot  ·  Cercospora Leaf Spot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Alternaria Stem &amp; Leaf Blight  ·  Root Rot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Blight  ·  Sclerotinia Wilt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Pest: Niger Leaf Miner (Sphaeroderma guizotiae)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in: Dagnachew Yirgou (1964) · EIAR Oilseed Strategy 2016–2023 · Holetta ARC · Geleta &amp; Ortiz 2022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COVERAGE  ·  TOMATO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Tuta absoluta — a national emergency since 2012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291840" cy="3200400"/>
          </a:xfrm>
          <a:prstGeom prst="rect">
            <a:avLst/>
          </a:prstGeom>
          <a:solidFill>
            <a:srgbClr val="B83010"/>
          </a:solidFill>
          <a:ln w="12700">
            <a:solidFill>
              <a:srgbClr val="B830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🍅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80–100%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 in unmanaged fields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tomato leafminer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(Phthorimaea absoluta) — central Rift Valley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SebilAI delivers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1892808"/>
            <a:ext cx="109728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EIAR Melkassa 2024 Manual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Yitayih Gedefaw et al. — Ethiopia's authoritative tomato reference, embedded in the AI prompt.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2606040"/>
            <a:ext cx="109728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Spinosad + pheromone protocol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2816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480 SC 150 ml/ha + mass trapping; Jabamo et al. 2023 showed &gt;83% larval reduction.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3319272"/>
            <a:ext cx="109728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255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Knows 7 tomato pests, 6 diseases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35295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Blight, Early Blight, Bacterial Wilt, Powdery Mildew, Fusarium Wilt — plus whiteflies, bollworm, thrips.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4032504"/>
            <a:ext cx="109728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Recommends resistant varieties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4242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Melkashola, Melkasalsa, Bisholla, Roma VF — straight from EIAR Melkassa releases.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COVERAGE  ·  ONION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Purple Blotch — up to 100% prevalence in Fogera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0" dirty="0">
                <a:solidFill>
                  <a:srgbClr val="000000"/>
                </a:solidFill>
              </a:rPr>
              <a:t>🧅</a:t>
            </a:r>
            <a:endParaRPr lang="en-US" sz="95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prevalence recorded in Amhara's Fogera Plains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Alternaria porri  ·  the #1 onion disease in Ethiopia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Ethiopian onion papers, 3 production zones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Rift Valley  ·  Amhara (Fogera)  ·  Arba Minch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350008"/>
            <a:ext cx="109728" cy="109728"/>
          </a:xfrm>
          <a:prstGeom prst="rect">
            <a:avLst/>
          </a:prstGeom>
          <a:solidFill>
            <a:srgbClr val="6D2E5C"/>
          </a:solidFill>
          <a:ln w="12700">
            <a:solidFill>
              <a:srgbClr val="6D2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 &amp; Yalew 2022 fungicide protocol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Tebuconazole (Natura 250 EW) or Difenoconazole (Diprocon 33 EC), 2–3 sprays — Bahir Dar / Fogera trial.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953512"/>
            <a:ext cx="109728" cy="109728"/>
          </a:xfrm>
          <a:prstGeom prst="rect">
            <a:avLst/>
          </a:prstGeom>
          <a:solidFill>
            <a:srgbClr val="6D2E5C"/>
          </a:solidFill>
          <a:ln w="12700">
            <a:solidFill>
              <a:srgbClr val="6D2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889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Low-input cultural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3163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transplanting (Dec), plant after cereals, &gt;4× plowing, fields ≤0.25 ha — works without chemicals.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3557016"/>
            <a:ext cx="109728" cy="109728"/>
          </a:xfrm>
          <a:prstGeom prst="rect">
            <a:avLst/>
          </a:prstGeom>
          <a:solidFill>
            <a:srgbClr val="6D2E5C"/>
          </a:solidFill>
          <a:ln w="12700">
            <a:solidFill>
              <a:srgbClr val="6D2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Onion Thrips (Thrips tabaci) covered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threshold 5–10/plant; neem, Datura, Beauveria bassiana botanical/biocontrol options.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4160520"/>
            <a:ext cx="109728" cy="109728"/>
          </a:xfrm>
          <a:prstGeom prst="rect">
            <a:avLst/>
          </a:prstGeom>
          <a:solidFill>
            <a:srgbClr val="6D2E5C"/>
          </a:solidFill>
          <a:ln w="12700">
            <a:solidFill>
              <a:srgbClr val="6D2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096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triggers built into forecasts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Bock 1964 epidemiology: 21–30 °C + RH &gt; 75% + leaf wetness ≥ 8 hr → spray window alert.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42+ Ethiopian peer-reviewed papers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1A3A05"/>
          </a:solidFill>
          <a:ln w="12700">
            <a:solidFill>
              <a:srgbClr val="1A3A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papers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73152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research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cited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73152" cy="1371600"/>
          </a:xfrm>
          <a:prstGeom prst="rect">
            <a:avLst/>
          </a:prstGeom>
          <a:solidFill>
            <a:srgbClr val="B83010"/>
          </a:solidFill>
          <a:ln w="12700">
            <a:solidFill>
              <a:srgbClr val="B83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08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3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institutions in the knowledge 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Ethiopian Institute of Agricultural Research (EIAR)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3016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Melkassa Agricultural Research Center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8770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Holetta Agricultural Research Center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2394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Debre Zeit Agricultural Research Center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Bonga University · Jimma University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3832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Bahir Dar University · Hawassa University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63016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Arba Minch University · Werabe ARC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8770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Areka ARC · Adet ARC · Chiro NSRTC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12394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CIMMYT · ICARDA · ICRISAT · FAO Ethiopia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3708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McKnight CCRP · CIP · CABI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· 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 stack engineered for rural Ethiopia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0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640080" cy="640080"/>
          </a:xfrm>
          <a:prstGeom prst="ellipse">
            <a:avLst/>
          </a:prstGeom>
          <a:solidFill>
            <a:srgbClr val="1A3A05"/>
          </a:solidFill>
          <a:ln w="12700">
            <a:solidFill>
              <a:srgbClr val="1A3A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+ symptoms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taps symptoms in their language + optional leaf photo.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17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640080" cy="640080"/>
          </a:xfrm>
          <a:prstGeom prst="ellipse">
            <a:avLst/>
          </a:prstGeom>
          <a:solidFill>
            <a:srgbClr val="1A3A05"/>
          </a:solidFill>
          <a:ln w="12700">
            <a:solidFill>
              <a:srgbClr val="1A3A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 Vision processes image + symptom text.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17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51960" y="1508760"/>
            <a:ext cx="640080" cy="640080"/>
          </a:xfrm>
          <a:prstGeom prst="ellipse">
            <a:avLst/>
          </a:prstGeom>
          <a:solidFill>
            <a:srgbClr val="1A3A05"/>
          </a:solidFill>
          <a:ln w="12700">
            <a:solidFill>
              <a:srgbClr val="1A3A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lookup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 of 42+ Ethiopian papers grounds the answer.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5780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17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0" y="1508760"/>
            <a:ext cx="640080" cy="640080"/>
          </a:xfrm>
          <a:prstGeom prst="ellipse">
            <a:avLst/>
          </a:prstGeom>
          <a:solidFill>
            <a:srgbClr val="1A3A05"/>
          </a:solidFill>
          <a:ln w="12700">
            <a:solidFill>
              <a:srgbClr val="1A3A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 + weather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NDVI + Open-Meteo forecast modulate severity.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4944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17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635240" y="1508760"/>
            <a:ext cx="640080" cy="640080"/>
          </a:xfrm>
          <a:prstGeom prst="ellipse">
            <a:avLst/>
          </a:prstGeom>
          <a:solidFill>
            <a:srgbClr val="1A3A05"/>
          </a:solidFill>
          <a:ln w="12700">
            <a:solidFill>
              <a:srgbClr val="1A3A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plan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severity, treatment cost, nearest extension office.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EAF1DC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installable, fully offline   ·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Vision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NDVI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non-smartphone users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 — Ethiopian Crop Disease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   ·   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 ·  WHAT WE NEED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Live, free, fully functional — and seeking partners for formal field validation.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at sebilai.com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crops · 55+ diseases · 6 languages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 Ethiopian developer from Hawassa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field validation completed yet — honest about that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EIAR / university validation partners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field pilots in Oromia / SNNPR / Amhara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for agronomist review at scale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via extension service networks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17720"/>
            <a:ext cx="4572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Gulilat Kasiye Worku  ·  ጉልላት ካስዬ ዎርቁ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4617720"/>
            <a:ext cx="3657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3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sebilai.com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SebilAI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SebilAI — Ethiopian Crop Disease AI</dc:title>
  <dc:subject>PptxGenJS Presentation</dc:subject>
  <dc:creator>Gulilat Kasiye Worku</dc:creator>
  <cp:lastModifiedBy>Gulilat Kasiye Worku</cp:lastModifiedBy>
  <cp:revision>1</cp:revision>
  <dcterms:created xsi:type="dcterms:W3CDTF">2026-05-26T11:51:48Z</dcterms:created>
  <dcterms:modified xsi:type="dcterms:W3CDTF">2026-05-26T11:51:48Z</dcterms:modified>
</cp:coreProperties>
</file>