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0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0"/>
            <a:ext cx="5056632" cy="685800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E4A06"/>
          </a:solidFill>
          <a:ln w="12700">
            <a:solidFill>
              <a:srgbClr val="1E4A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0" y="548640"/>
            <a:ext cx="41148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0" dirty="0">
                <a:solidFill>
                  <a:srgbClr val="000000"/>
                </a:solidFill>
              </a:rPr>
              <a:t>🌿</a:t>
            </a:r>
            <a:endParaRPr lang="en-US" sz="130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SebilAI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ሰብሊAI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Crop Disease Advisor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C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Ethiopian Smallholder Farmers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52044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"Sebil (ሰብሊ) means Crops in Amharic — this is AI for Ethiopian Crops"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4206240"/>
            <a:ext cx="2834640" cy="640080"/>
          </a:xfrm>
          <a:prstGeom prst="roundRect">
            <a:avLst>
              <a:gd name="adj" fmla="val 11429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26110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53542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no internet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566160" y="4206240"/>
            <a:ext cx="2834640" cy="640080"/>
          </a:xfrm>
          <a:prstGeom prst="roundRect">
            <a:avLst>
              <a:gd name="adj" fmla="val 11429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426110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23+ Ethiopian Papers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66160" y="453542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grounded research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4983480"/>
            <a:ext cx="2834640" cy="640080"/>
          </a:xfrm>
          <a:prstGeom prst="roundRect">
            <a:avLst>
              <a:gd name="adj" fmla="val 11429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503834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Languages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531266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· አማርኛ · Oromiffa · ትግርኛ · Soomaali · Qafar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566160" y="4983480"/>
            <a:ext cx="2834640" cy="640080"/>
          </a:xfrm>
          <a:prstGeom prst="roundRect">
            <a:avLst>
              <a:gd name="adj" fmla="val 11429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66160" y="503834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566160" y="531266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ads · No tracking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6172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Gulilat Kasiye Worku (ጉልላት ካስዬ ዎርቁ)  |  gulilatkasiye4@gmail.com  |  +251 704 161 402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sebilai.com  ·  App Score: 92–95/100  ·  Hawassa, Ethiopia 🇪🇹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D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300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Million Ethiopian Farmers Have No AI Tool That Speaks Their Language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574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3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🌾 40–70% crop losses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preventable diseases — Enset, Teff, Wheat, Maize, Coffee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09360" y="192024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20574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3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Existing apps fail Ethiopia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246888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Plantix and Nuru don't know Enset or Teff. No Amharic. No Ethiopian research.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56616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3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Low internet connectivity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1148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farmers cannot rely on cloud-only tools in remote highland areas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356616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3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Language barrier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41148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are English-only. Ethiopia has 80+ languages. Farmers are left behind.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30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SebilAI — Built Specifically for Ethiopia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69164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80136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Triple AI Engine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16712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Llama 4 Scout → OpenRouter → Gemini. Never fails. Vision models.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97680" y="169164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180136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📴 42 Diseases Offline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434840" y="216712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crops fully diagnosed without internet. Works in remote areas.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0" y="169164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180136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🛰️ Satellite NDVI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66760" y="216712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Earth Engine Sentinel-2 real-time crop health monitoring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315468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6440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6 Languages + Voice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363016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· አማርኛ · Oromiffa · ትግርኛ · Soomaali · Qafar. Native TTS.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97680" y="315468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34840" y="326440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Push + SMS Alerts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34840" y="363016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alerts via push notification and SMS. Auto-sends daily.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0" y="315468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66760" y="326440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Privacy-First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66760" y="363016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on device. GDPR compliant. Inline consent. No tracking.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6576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72744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Impact Dashboard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" y="509320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ETB loss prevented per farmer. Competition-ready metrics.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29768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34840" y="472744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🌿 23+ Ethiopian Papers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434840" y="5093208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diagnosis linked to EIAR, Jimma University, CIMMYT research.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D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FOUNDATION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300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23+ Ethiopian Peer-Reviewed Papers — 2019 to 2025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508760"/>
            <a:ext cx="640080" cy="960120"/>
          </a:xfrm>
          <a:prstGeom prst="roundRect">
            <a:avLst>
              <a:gd name="adj" fmla="val 11429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78308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" y="16002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30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Bacterial Wilt CNN detection (98.87% accuracy)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203911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Jimma University, 2021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217920" y="150876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508760"/>
            <a:ext cx="640080" cy="960120"/>
          </a:xfrm>
          <a:prstGeom prst="roundRect">
            <a:avLst>
              <a:gd name="adj" fmla="val 11429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78308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9440" y="16002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30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EBW Management — 65.7% → 10.1% loss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949440" y="203911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Life Sci Biomed, 2024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60604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606040"/>
            <a:ext cx="640080" cy="960120"/>
          </a:xfrm>
          <a:prstGeom prst="roundRect">
            <a:avLst>
              <a:gd name="adj" fmla="val 11429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88036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97280" y="26974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30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Loss from Wilting Disease, Sidama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97280" y="313639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Agric Economics, 2024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920" y="260604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2606040"/>
            <a:ext cx="640080" cy="960120"/>
          </a:xfrm>
          <a:prstGeom prst="roundRect">
            <a:avLst>
              <a:gd name="adj" fmla="val 11429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0" y="288036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Teff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49440" y="26974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30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Tef Diseases — Updated Review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49440" y="313639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EIAR Debre Zeit ARC, 2025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370332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703320"/>
            <a:ext cx="640080" cy="960120"/>
          </a:xfrm>
          <a:prstGeom prst="roundRect">
            <a:avLst>
              <a:gd name="adj" fmla="val 11429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9776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Teff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97280" y="379476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30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Teff: A Healthy Crop of the Century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97280" y="423367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Crops, Springer, 2025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217920" y="370332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17920" y="3703320"/>
            <a:ext cx="640080" cy="960120"/>
          </a:xfrm>
          <a:prstGeom prst="roundRect">
            <a:avLst>
              <a:gd name="adj" fmla="val 11429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0" y="39776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Wheat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49440" y="379476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30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System for Rust Ug99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49440" y="423367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Cambridge / CIMMYT / EIAR, 2019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4800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4800600"/>
            <a:ext cx="640080" cy="960120"/>
          </a:xfrm>
          <a:prstGeom prst="roundRect">
            <a:avLst>
              <a:gd name="adj" fmla="val 11429"/>
            </a:avLst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50749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Maize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489204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30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Maize Disease and Management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97280" y="533095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 / FAO Ethiopia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0" y="4800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17920" y="4800600"/>
            <a:ext cx="640080" cy="960120"/>
          </a:xfrm>
          <a:prstGeom prst="roundRect">
            <a:avLst>
              <a:gd name="adj" fmla="val 11429"/>
            </a:avLst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0" y="50749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949440" y="489204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30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McKnight-CCRP Integrated Management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949440" y="533095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McKnight Foundation / CGIAR, 2022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D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SCALE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300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Designed to Reach 15 Million Ethiopian Farming Families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A3005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3736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DC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40–70%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loss reduction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early treatment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7680" y="164592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A3005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0" y="173736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DC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297680" y="24688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Diseases diagnosed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offline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38160" y="164592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A3005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0" y="173736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DC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138160" y="24688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crops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A3005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33756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DC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23+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57200" y="40690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Peer-reviewed papers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knowledge base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97680" y="324612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A3005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0" y="333756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DC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4297680" y="40690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spoken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natively by app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38160" y="324612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A3005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333756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DC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8138160" y="40690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EIAR research centers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direct call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30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ARCHITECTURE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8686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INTERFACE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566160" y="8686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· 6 Languages · Voice TTS/STT · Offline · Push + SMS Notifications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755648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256A0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01368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566160" y="1801368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Llama 4 Scout → OpenRouter → Gemini · Triple Fallback · Vision Models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88336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73405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LAYER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66160" y="2734056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Earth Engine REST API · Sentinel-2 NDVI · Real JWT Auth · 8-crop thresholds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21024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1A3A05"/>
          </a:solidFill>
          <a:ln w="12700">
            <a:solidFill>
              <a:srgbClr val="AACC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66674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PRIVACY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66160" y="3666744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IndexedDB v5 (7 stores) · localStorage · No server storage · GDPR compliant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1A3A05"/>
          </a:solidFill>
          <a:ln w="12700">
            <a:solidFill>
              <a:srgbClr val="AACC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59943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459943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v3.1 · 12 endpoints · web-push · Africa Talking SMS · Google TTS proxy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5486400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141414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5321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LOCAL AI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566160" y="55321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TF.js MobileNetV2 · On-device inference · Training in progress (photos needed)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2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AM SEEKING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DC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🌿 SebilAI — ሰብሊAI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CC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Gulilat Kasiye Worku (ጉልላት ካስዬ ዎርቁ) · Ethiopian AI Developer &amp; Entrepreneur · Hawassa, Ethiopia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1E4A06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1488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Funding / Investment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54203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funding to train custom TF.js models for all 8 Ethiopian crops and scale nationwide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1E4A06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21488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D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Partnership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54203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NGO, university, or government partnership for data collection and field deployment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65760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1E4A06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94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Competition Prize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418795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Zindi Africa · Google for Startups · Tony Elumelu Foundation · UN WFP Innovation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365760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1E4A06"/>
          </a:solidFill>
          <a:ln w="12700">
            <a:solidFill>
              <a:srgbClr val="7B5EA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3794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Global Recognition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418795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with CGIAR, FAO Ethiopia, World Bank for international scale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557784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573328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gulilatkasiye4@gmail.com  ·  📞 +251 704 161 402  ·  🌐 sebilai.com  ·  github.com/guleaada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2026-05-23T01:30:22Z</dcterms:created>
  <dcterms:modified xsi:type="dcterms:W3CDTF">2026-05-23T01:30:22Z</dcterms:modified>
</cp:coreProperties>
</file>