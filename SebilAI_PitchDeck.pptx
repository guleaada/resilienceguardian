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-457200"/>
            <a:ext cx="4114800" cy="4114800"/>
          </a:xfrm>
          <a:prstGeom prst="ellipse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2011680"/>
            <a:ext cx="2926080" cy="2926080"/>
          </a:xfrm>
          <a:prstGeom prst="ellipse">
            <a:avLst/>
          </a:prstGeom>
          <a:solidFill>
            <a:srgbClr val="1A4A08"/>
          </a:solidFill>
          <a:ln w="12700">
            <a:solidFill>
              <a:srgbClr val="1A4A0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411480"/>
            <a:ext cx="3474720" cy="320040"/>
          </a:xfrm>
          <a:prstGeom prst="roundRect">
            <a:avLst>
              <a:gd name="adj" fmla="val 3428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11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B8DC7A"/>
                </a:solidFill>
              </a:rPr>
              <a:t>COMPETITION PITCH  |  MAY 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9144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300" kern="0" dirty="0">
                <a:solidFill>
                  <a:srgbClr val="FFFFFF"/>
                </a:solidFill>
              </a:rPr>
              <a:t>SebilAI</a:t>
            </a:r>
            <a:endParaRPr lang="en-US" sz="7600" dirty="0"/>
          </a:p>
        </p:txBody>
      </p:sp>
      <p:sp>
        <p:nvSpPr>
          <p:cNvPr id="9" name="Text 7"/>
          <p:cNvSpPr/>
          <p:nvPr/>
        </p:nvSpPr>
        <p:spPr>
          <a:xfrm>
            <a:off x="320040" y="1874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B8DC7A"/>
                </a:solidFill>
              </a:rPr>
              <a:t>sebilAI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0040" y="2468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Ethiopian Crop Disease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20040" y="294436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CC66"/>
                </a:solidFill>
              </a:rPr>
              <a:t>Localized  |  Offline-First  |  Built for 15M Ethiopian Farmers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87%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Accuracy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039112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39112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39112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Languages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58184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58184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1,247+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58184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Diagnoses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77256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77256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42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77256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Diseases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196328" y="3429000"/>
            <a:ext cx="1572768" cy="502920"/>
          </a:xfrm>
          <a:prstGeom prst="roundRect">
            <a:avLst>
              <a:gd name="adj" fmla="val 18182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96328" y="34564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Free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96328" y="3666744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CC66"/>
                </a:solidFill>
              </a:rPr>
              <a:t>Always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20040" y="406908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8844"/>
                </a:solidFill>
              </a:rPr>
              <a:t>Gulilat Kasiye Worku  |  Hawassa, Ethiopia  |  sebilai.com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7472" y="164592"/>
            <a:ext cx="8449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Crisis Hidden in Plain Sight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56032" y="1060704"/>
            <a:ext cx="42062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8D0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1060704"/>
            <a:ext cx="91440" cy="13167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" y="1152144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1521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41832" y="115214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1A0E"/>
                </a:solidFill>
              </a:rPr>
              <a:t>15 Million Families at Risk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" y="15636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3728"/>
                </a:solidFill>
              </a:rPr>
              <a:t>Enset, Teff, Wheat, Maize, Coffee — crops entire communities depend on — face constant disease threats with no local AI support.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709160" y="1060704"/>
            <a:ext cx="42062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8D0C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1060704"/>
            <a:ext cx="91440" cy="13167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1152144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1521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94960" y="115214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1A0E"/>
                </a:solidFill>
              </a:rPr>
              <a:t>40-70% Crop Loss When Late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15636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3728"/>
                </a:solidFill>
              </a:rPr>
              <a:t>Diseases detected too late devastate entire seasons. One Enset Bacterial Wilt outbreak can destroy 3-5 years of a family food supply.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56032" y="2505456"/>
            <a:ext cx="42062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8D0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6032" y="2505456"/>
            <a:ext cx="91440" cy="13167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8912" y="2596896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" y="25968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1832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1A0E"/>
                </a:solidFill>
              </a:rPr>
              <a:t>No Tools Built for Ethiopia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300837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3728"/>
                </a:solidFill>
              </a:rPr>
              <a:t>Existing solutions are English-only, need constant internet, and ignore Enset entirely — the crop that feeds 20M+ in southern Ethiopia.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709160" y="2505456"/>
            <a:ext cx="42062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8D0C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09160" y="2505456"/>
            <a:ext cx="91440" cy="13167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92040" y="2596896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25968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94960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1A0E"/>
                </a:solidFill>
              </a:rPr>
              <a:t>Farmers Wait Days for Help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92040" y="300837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3728"/>
                </a:solidFill>
              </a:rPr>
              <a:t>Extension workers are scarce. Farmers in Sidama, Oromia, and Afar wait days for diagnosis — losing critical early-treatment windows.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256032" y="4041648"/>
            <a:ext cx="8631936" cy="658368"/>
          </a:xfrm>
          <a:prstGeom prst="roundRect">
            <a:avLst>
              <a:gd name="adj" fmla="val 11111"/>
            </a:avLst>
          </a:prstGeom>
          <a:solidFill>
            <a:srgbClr val="FFF3CD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6032" y="4041648"/>
            <a:ext cx="457200" cy="658368"/>
          </a:xfrm>
          <a:prstGeom prst="roundRect">
            <a:avLst>
              <a:gd name="adj" fmla="val 12000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6032" y="404164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"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77240" y="4069080"/>
            <a:ext cx="7607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4500"/>
                </a:solidFill>
              </a:rPr>
              <a:t>"I saw my neighbor lose his entire Enset farm to Bacterial Wilt in 2024. That pain is what drove me to build SebilAI."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77240" y="4434840"/>
            <a:ext cx="7607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017"/>
                </a:solidFill>
              </a:rPr>
              <a:t>— Gulilat Kasiye Worku, Developer  |  Hawassa, Ethiopia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49040" y="0"/>
            <a:ext cx="539496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749040" y="0"/>
            <a:ext cx="54864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OUR ADVANTAGE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56032" y="502920"/>
            <a:ext cx="33101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Makes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SebilAI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Different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" y="2286000"/>
            <a:ext cx="33101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9CC66"/>
                </a:solidFill>
              </a:rPr>
              <a:t>Built from lived experience.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99CC66"/>
                </a:solidFill>
              </a:rPr>
              <a:t>Grounded in Ethiopian science.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99CC66"/>
                </a:solidFill>
              </a:rPr>
              <a:t>Designed for Ethiopian reality.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7744" y="3182112"/>
            <a:ext cx="3346704" cy="822960"/>
          </a:xfrm>
          <a:prstGeom prst="roundRect">
            <a:avLst>
              <a:gd name="adj" fmla="val 1111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7744" y="3182112"/>
            <a:ext cx="685800" cy="822960"/>
          </a:xfrm>
          <a:prstGeom prst="roundRect">
            <a:avLst>
              <a:gd name="adj" fmla="val 8000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" y="3182112"/>
            <a:ext cx="685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DEV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2552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Gulilat Kasiye Worku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05840" y="35295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DC7A"/>
                </a:solidFill>
              </a:rPr>
              <a:t>Ethiopian Developer  |  Hawassa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50208" y="1645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A0E"/>
                </a:solidFill>
              </a:rPr>
              <a:t>5 Reasons SebilAI Wins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931920" y="676656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676656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676656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35424" y="722376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Built by a Local from Hawassa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35424" y="1005840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Understands Enset, Teff, and Ethiopian farming realities firsthand — not from a textbook.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931920" y="1481328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31920" y="1481328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0" y="1481328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35424" y="152704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23+ Ethiopian Research Papers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35424" y="1810512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EIAR, Jimma University, Hawassa University, Werabe ARC — deepest local knowledge base.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931920" y="2286000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2286000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0" y="2286000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35424" y="233172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6 Languages — Truly Localized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35424" y="261518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Amharic, Afaan Oromo, Tigrinya, Somali, Afar — 95 translation keys per language.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931920" y="3090672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090672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31920" y="3090672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35424" y="313639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Works Offline in Remote Areas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35424" y="341985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42 diseases diagnosed without internet. Critical for low-connectivity woredas.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931920" y="3895344"/>
            <a:ext cx="495604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D8E8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31920" y="3895344"/>
            <a:ext cx="530352" cy="713232"/>
          </a:xfrm>
          <a:prstGeom prst="roundRect">
            <a:avLst>
              <a:gd name="adj" fmla="val 1034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0" y="3895344"/>
            <a:ext cx="530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35424" y="394106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1A0E"/>
                </a:solidFill>
              </a:rPr>
              <a:t>Real ETB Impact per Farmer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35424" y="422452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3728"/>
                </a:solidFill>
              </a:rPr>
              <a:t>Shows exact yield loss prevented in Ethiopian Birr — concrete, motivating value.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THE SOLUTION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7472" y="164592"/>
            <a:ext cx="8449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SebilAI — Built Specifically for Ethiopia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47472" y="713232"/>
            <a:ext cx="8449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DC7A"/>
                </a:solidFill>
              </a:rPr>
              <a:t>One photo. 10 seconds. A 7-day action plan. In your language.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" y="1143000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" y="121615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" y="12161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AI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33272" y="119786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Triple AI Fallback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33272" y="149047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Groq Llama 4 Scout 17B Vision + OpenRouter + Gemini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09160" y="1143000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82312" y="121615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12161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SAT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0" y="119786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Satellite NDVI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0" y="149047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Google Earth Engine Sentinel-2 field analysis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56032" y="2020824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9184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" y="20939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WX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33272" y="207568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Weather Risk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33272" y="2368296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Real-time disease risk from Open-Meteo data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2020824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231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0939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6L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0" y="207568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6 Languages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2368296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EN | AM | OM | TI | SO | AA — fully translated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6032" y="2898648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" y="297180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" y="2971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SMS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33272" y="29535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SMS Diagnosis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33272" y="32461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Feature phones — no smartphone or internet needed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898648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82312" y="297180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82312" y="2971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OFF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0" y="29535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Full Offline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0" y="32461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42 diseases, 8 crops — zero internet required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56032" y="3776472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" y="384962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5D4037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" y="384962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CAM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3272" y="38313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Follow-Up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33272" y="4123944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7-day before/after crop recovery photo tracker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09160" y="3776472"/>
            <a:ext cx="4206240" cy="749808"/>
          </a:xfrm>
          <a:prstGeom prst="roundRect">
            <a:avLst>
              <a:gd name="adj" fmla="val 12195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82312" y="384962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A5A3A"/>
          </a:solidFill>
          <a:ln w="12700">
            <a:solidFill>
              <a:srgbClr val="1A5A3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384962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</a:rPr>
              <a:t>MAP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486400" y="38313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Disease Map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0" y="4123944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CC66"/>
                </a:solidFill>
              </a:rPr>
              <a:t>Live community outbreak heatmap across Ethiopia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VALIDATION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7472" y="164592"/>
            <a:ext cx="8449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Numbers. Real Farmers. Real Ethiopia.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56032" y="1051560"/>
            <a:ext cx="192024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1051560"/>
            <a:ext cx="73152" cy="1024128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1064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A0A"/>
                </a:solidFill>
              </a:rPr>
              <a:t>87%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84048" y="16550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Agronomist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Agreement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(n=120)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331720" y="1051560"/>
            <a:ext cx="192024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1720" y="1051560"/>
            <a:ext cx="73152" cy="1024128"/>
          </a:xfrm>
          <a:prstGeom prst="rect">
            <a:avLst/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9736" y="11064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F1F"/>
                </a:solidFill>
              </a:rPr>
              <a:t>42%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459736" y="16550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Avg Yield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Loss Reduced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407408" y="1051560"/>
            <a:ext cx="192024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07408" y="1051560"/>
            <a:ext cx="73152" cy="1024128"/>
          </a:xfrm>
          <a:prstGeom prst="rect">
            <a:avLst/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11064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6B5A"/>
                </a:solidFill>
              </a:rPr>
              <a:t>1,247+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535424" y="16550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Total Diagnoses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Made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83096" y="1051560"/>
            <a:ext cx="192024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3096" y="1051560"/>
            <a:ext cx="73152" cy="1024128"/>
          </a:xfrm>
          <a:prstGeom prst="rect">
            <a:avLst/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11112" y="11064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6914"/>
                </a:solidFill>
              </a:rPr>
              <a:t>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611112" y="16550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Ethiopian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A3728"/>
                </a:solidFill>
              </a:rPr>
              <a:t>Languages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56032" y="2212848"/>
            <a:ext cx="86319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8E0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2286000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1A0E"/>
                </a:solidFill>
              </a:rPr>
              <a:t>How SebilAI Compares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" y="2633472"/>
            <a:ext cx="214884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63347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Feature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514600" y="2633472"/>
            <a:ext cx="2286000" cy="25603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14600" y="2633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SebilAI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46320" y="2633472"/>
            <a:ext cx="192024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26334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CABI Plantwise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812280" y="2633472"/>
            <a:ext cx="201168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12280" y="26334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Extension Worker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2907792"/>
            <a:ext cx="21488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6616" y="2907792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Languages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514600" y="2907792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51176" y="2907792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6 Ethiopian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846320" y="2907792"/>
            <a:ext cx="19202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82896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English only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812280" y="2907792"/>
            <a:ext cx="201168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2907792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Local (varies)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0040" y="3108960"/>
            <a:ext cx="21488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6616" y="3108960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Response time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514600" y="3108960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51176" y="3108960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10 seconds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846320" y="3108960"/>
            <a:ext cx="19202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82896" y="310896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Days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812280" y="3108960"/>
            <a:ext cx="20116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48856" y="3108960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Days + travel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20040" y="3310128"/>
            <a:ext cx="21488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6616" y="3310128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Works offline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514600" y="3310128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51176" y="3310128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Yes (PWA)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846320" y="3310128"/>
            <a:ext cx="19202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82896" y="33101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812280" y="3310128"/>
            <a:ext cx="201168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48856" y="3310128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0040" y="3511296"/>
            <a:ext cx="21488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56616" y="351129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Satellite NDVI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514600" y="3511296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51176" y="3511296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Yes (GEE)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4846320" y="3511296"/>
            <a:ext cx="192024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882896" y="3511296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812280" y="3511296"/>
            <a:ext cx="20116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48856" y="3511296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20040" y="3712464"/>
            <a:ext cx="21488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56616" y="3712464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SMS Diagnosis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514600" y="3712464"/>
            <a:ext cx="228600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551176" y="3712464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Yes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846320" y="3712464"/>
            <a:ext cx="192024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82896" y="371246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812280" y="3712464"/>
            <a:ext cx="2011680" cy="201168"/>
          </a:xfrm>
          <a:prstGeom prst="rect">
            <a:avLst/>
          </a:prstGeom>
          <a:solidFill>
            <a:srgbClr val="F8F8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848856" y="3712464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256032" y="4005072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88888"/>
                </a:solidFill>
              </a:rPr>
              <a:t>Pilot: Oromia | SNNPR | Amhara  |  May 2025-May 2026  |  120 field validations  |  8 crops  |  23+ Ethiopian studies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47472" y="164592"/>
            <a:ext cx="84490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From Photo to Treatment Plan in 10 Seconds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37744" y="822960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932688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32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87552" y="987552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98755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CROP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5361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Select Crop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1901952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Choose from 8 Ethiopian crops with dedicated disease knowledge bases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0" y="822960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0128" y="932688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10128" y="932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950208" y="987552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0208" y="98755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PHOTO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28416" y="15361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Upload Photo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28416" y="1901952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AI vision inspects image for 42 known Ethiopian disease patterns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63056" y="822960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932688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72784" y="932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912864" y="987552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12864" y="98755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VOICE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91072" y="15361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Describe Symptoms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91072" y="1901952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Tap chips or speak in your language — voice works in all 6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37744" y="2816352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7472" y="2926080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29260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87552" y="2980944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298094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INFO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65760" y="352958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Add Farm Context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3895344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Region, rainfall, season — improves diagnosis accuracy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00400" y="2816352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10128" y="2926080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10128" y="29260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5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950208" y="2980944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50208" y="298094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AI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328416" y="352958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AI Diagnoses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328416" y="3895344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Groq + Satellite NDVI + Weather + 23 research papers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163056" y="2816352"/>
            <a:ext cx="2779776" cy="1828800"/>
          </a:xfrm>
          <a:prstGeom prst="roundRect">
            <a:avLst>
              <a:gd name="adj" fmla="val 5000"/>
            </a:avLst>
          </a:prstGeom>
          <a:solidFill>
            <a:srgbClr val="1A3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72784" y="2926080"/>
            <a:ext cx="530352" cy="530352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72784" y="29260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1A0E"/>
                </a:solidFill>
              </a:rPr>
              <a:t>6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912864" y="2980944"/>
            <a:ext cx="658368" cy="402336"/>
          </a:xfrm>
          <a:prstGeom prst="roundRect">
            <a:avLst>
              <a:gd name="adj" fmla="val 1363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12864" y="298094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PLAN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291072" y="352958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7-Day Action Plan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291072" y="3895344"/>
            <a:ext cx="2523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BDDAA"/>
                </a:solidFill>
              </a:rPr>
              <a:t>Step-by-step treatment + ETB savings estimate in your language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TECHNOLOGY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7472" y="164592"/>
            <a:ext cx="8449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Enterprise-Grade AI Stack for Ethiopian Agriculture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56032" y="1078992"/>
            <a:ext cx="841248" cy="420624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07899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AI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33856" y="1078992"/>
            <a:ext cx="7754112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1078992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Groq Llama 4 Scout 17B Vision  --&gt;  OpenRouter  --&gt;  Gemini 2.0 Flash (triple fallback)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" y="1554480"/>
            <a:ext cx="841248" cy="420624"/>
          </a:xfrm>
          <a:prstGeom prst="rect">
            <a:avLst/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1554480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33856" y="1554480"/>
            <a:ext cx="7754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1554480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Google Earth Engine  |  Sentinel-2 NDVI  |  JWT-authenticated REST API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6032" y="2029968"/>
            <a:ext cx="841248" cy="420624"/>
          </a:xfrm>
          <a:prstGeom prst="rect">
            <a:avLst/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202996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WX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33856" y="2029968"/>
            <a:ext cx="7754112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" y="2029968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Open-Meteo real-time weather  |  humidity + temp + rain  --&gt;  14-day disease risk score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6032" y="2505456"/>
            <a:ext cx="841248" cy="420624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2505456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133856" y="2505456"/>
            <a:ext cx="7754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440" y="2505456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Leaflet.js community outbreak heatmap  |  Early warning: 5+ reports = SMS alert to all subscribers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6032" y="2980944"/>
            <a:ext cx="841248" cy="420624"/>
          </a:xfrm>
          <a:prstGeom prst="rect">
            <a:avLst/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" y="2980944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SMS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33856" y="2980944"/>
            <a:ext cx="7754112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34440" y="2980944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Africa's Talking  |  Incoming SMS webhook  |  Feature phone diagnosis  |  Group cooperative mode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3456432"/>
            <a:ext cx="841248" cy="42062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" y="3456432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PWA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133856" y="3456432"/>
            <a:ext cx="7754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34440" y="3456432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Service Worker v4 + IndexedDB v5  |  42 diseases offline  |  3 installable PWAs (Farmer|Admin|Agronomist)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" y="3931920"/>
            <a:ext cx="841248" cy="420624"/>
          </a:xfrm>
          <a:prstGeom prst="rect">
            <a:avLst/>
          </a:prstGeom>
          <a:solidFill>
            <a:srgbClr val="5D4037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3931920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API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133856" y="3931920"/>
            <a:ext cx="7754112" cy="420624"/>
          </a:xfrm>
          <a:prstGeom prst="rect">
            <a:avLst/>
          </a:prstGeom>
          <a:solidFill>
            <a:srgbClr val="FAFAF5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34440" y="3931920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Node.js + Express  |  SQLite (better-sqlite3)  |  41 endpoints  |  Rate limiting + full persistence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56032" y="4407408"/>
            <a:ext cx="841248" cy="420624"/>
          </a:xfrm>
          <a:prstGeom prst="rect">
            <a:avLst/>
          </a:prstGeom>
          <a:solidFill>
            <a:srgbClr val="4A3728"/>
          </a:solidFill>
          <a:ln w="12700">
            <a:solidFill>
              <a:srgbClr val="4A37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6032" y="4407408"/>
            <a:ext cx="84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DBD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133856" y="4407408"/>
            <a:ext cx="7754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34440" y="4407408"/>
            <a:ext cx="7543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Yield prediction + Cooperative groups + Seasonal calendar + Market price (ECX) + Agronomist dashboard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BUSINESS MODEL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47472" y="164592"/>
            <a:ext cx="8449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Sustainable  |  Scalable  |  Mission-Aligned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56032" y="768096"/>
            <a:ext cx="4206240" cy="932688"/>
          </a:xfrm>
          <a:prstGeom prst="roundRect">
            <a:avLst>
              <a:gd name="adj" fmla="val 9804"/>
            </a:avLst>
          </a:prstGeom>
          <a:solidFill>
            <a:srgbClr val="1A3A08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859536"/>
            <a:ext cx="786384" cy="749808"/>
          </a:xfrm>
          <a:prstGeom prst="roundRect">
            <a:avLst>
              <a:gd name="adj" fmla="val 9756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" y="859536"/>
            <a:ext cx="78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FREE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25296" y="85953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Free for Farmers — Always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188720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Core mission: food security. Every Ethiopian farmer uses SebilAI for free, forever.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09160" y="768096"/>
            <a:ext cx="4206240" cy="932688"/>
          </a:xfrm>
          <a:prstGeom prst="roundRect">
            <a:avLst>
              <a:gd name="adj" fmla="val 9804"/>
            </a:avLst>
          </a:prstGeom>
          <a:solidFill>
            <a:srgbClr val="1A3A08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82312" y="859536"/>
            <a:ext cx="786384" cy="749808"/>
          </a:xfrm>
          <a:prstGeom prst="roundRect">
            <a:avLst>
              <a:gd name="adj" fmla="val 975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859536"/>
            <a:ext cx="78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API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78424" y="85953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Gov / NGO API Access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78424" y="1188720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Paid API for MoA, EIAR, NGOs — bulk diagnosis, regional dashboards, research data.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" y="1819656"/>
            <a:ext cx="4206240" cy="932688"/>
          </a:xfrm>
          <a:prstGeom prst="roundRect">
            <a:avLst>
              <a:gd name="adj" fmla="val 9804"/>
            </a:avLst>
          </a:prstGeom>
          <a:solidFill>
            <a:srgbClr val="1A3A08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9184" y="1911096"/>
            <a:ext cx="786384" cy="749808"/>
          </a:xfrm>
          <a:prstGeom prst="roundRect">
            <a:avLst>
              <a:gd name="adj" fmla="val 9756"/>
            </a:avLst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" y="1911096"/>
            <a:ext cx="78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DATA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25296" y="191109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Anonymized Disease Data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25296" y="2240280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Aggregate disease trend data for World Bank, CGIAR, international ag research orgs.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09160" y="1819656"/>
            <a:ext cx="4206240" cy="932688"/>
          </a:xfrm>
          <a:prstGeom prst="roundRect">
            <a:avLst>
              <a:gd name="adj" fmla="val 9804"/>
            </a:avLst>
          </a:prstGeom>
          <a:solidFill>
            <a:srgbClr val="1A3A08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82312" y="1911096"/>
            <a:ext cx="786384" cy="749808"/>
          </a:xfrm>
          <a:prstGeom prst="roundRect">
            <a:avLst>
              <a:gd name="adj" fmla="val 9756"/>
            </a:avLst>
          </a:prstGeom>
          <a:solidFill>
            <a:srgbClr val="5D4037"/>
          </a:solidFill>
          <a:ln w="12700">
            <a:solidFill>
              <a:srgbClr val="5D40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1911096"/>
            <a:ext cx="78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GRNT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78424" y="191109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DC7A"/>
                </a:solidFill>
              </a:rPr>
              <a:t>Grants &amp; Impact Investment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78424" y="2240280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CC66"/>
                </a:solidFill>
              </a:rPr>
              <a:t>Tony Elumelu, UN WFP, USAID, World Bank. Actively applying to 5 programs.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" y="2944368"/>
            <a:ext cx="8631936" cy="256032"/>
          </a:xfrm>
          <a:prstGeom prst="rect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" y="2944368"/>
            <a:ext cx="863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B8DC7A"/>
                </a:solidFill>
              </a:rPr>
              <a:t>PRODUCT ROADMAP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6032" y="329184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" y="32918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NOW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63040" y="332841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BB"/>
                </a:solidFill>
              </a:rPr>
              <a:t>Core AI + 6 Languages + Satellite + SMS + Weather + Heatmap + Coop Mode + Voice + Yield + Forecast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" y="3730752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37307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Q3 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463040" y="37673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BB"/>
                </a:solidFill>
              </a:rPr>
              <a:t>WhatsApp Bot integration + TF.js on-device AI models (training data from EIAR / Jimma University)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4169664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6032" y="41696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463040" y="4206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BB"/>
                </a:solidFill>
              </a:rPr>
              <a:t>Ministry of Agriculture Extension Worker integration + PostgreSQL + National woreda-level coverage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B05"/>
          </a:solidFill>
          <a:ln w="12700">
            <a:solidFill>
              <a:srgbClr val="0D2B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-731520"/>
            <a:ext cx="4572000" cy="4572000"/>
          </a:xfrm>
          <a:prstGeom prst="ellipse">
            <a:avLst/>
          </a:prstGeom>
          <a:solidFill>
            <a:srgbClr val="143805"/>
          </a:solidFill>
          <a:ln w="12700">
            <a:solidFill>
              <a:srgbClr val="14380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9728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100" kern="0" dirty="0">
                <a:solidFill>
                  <a:srgbClr val="FFFFFF"/>
                </a:solidFill>
              </a:rPr>
              <a:t>SebilAI is Live.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8DC7A"/>
                </a:solidFill>
              </a:rPr>
              <a:t>Try it. Validate it. Partner with me.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" y="1389888"/>
            <a:ext cx="8631936" cy="475488"/>
          </a:xfrm>
          <a:prstGeom prst="roundRect">
            <a:avLst>
              <a:gd name="adj" fmla="val 19231"/>
            </a:avLst>
          </a:prstGeom>
          <a:solidFill>
            <a:srgbClr val="1A3A08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1389888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389888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</a:rPr>
              <a:t>WEB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1444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Live 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07792" y="1444752"/>
            <a:ext cx="5870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sebilai.com — diagnose any crop instantly, no signup needed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6032" y="1938528"/>
            <a:ext cx="8631936" cy="475488"/>
          </a:xfrm>
          <a:prstGeom prst="roundRect">
            <a:avLst>
              <a:gd name="adj" fmla="val 19231"/>
            </a:avLst>
          </a:prstGeom>
          <a:solidFill>
            <a:srgbClr val="1A3A08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938528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4A8F1F"/>
          </a:solidFill>
          <a:ln w="12700">
            <a:solidFill>
              <a:srgbClr val="4A8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938528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</a:rPr>
              <a:t>87%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78992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Validated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907792" y="1993392"/>
            <a:ext cx="5870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87% agronomist agreement  |  n=120  |  1,247+ real diagnoses to date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56032" y="2487168"/>
            <a:ext cx="8631936" cy="475488"/>
          </a:xfrm>
          <a:prstGeom prst="roundRect">
            <a:avLst>
              <a:gd name="adj" fmla="val 19231"/>
            </a:avLst>
          </a:prstGeom>
          <a:solidFill>
            <a:srgbClr val="1A3A08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2487168"/>
            <a:ext cx="749808" cy="475488"/>
          </a:xfrm>
          <a:prstGeom prst="roundRect">
            <a:avLst>
              <a:gd name="adj" fmla="val 11538"/>
            </a:avLst>
          </a:prstGeom>
          <a:solidFill>
            <a:srgbClr val="1A6B5A"/>
          </a:solidFill>
          <a:ln w="12700">
            <a:solidFill>
              <a:srgbClr val="1A6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2487168"/>
            <a:ext cx="749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</a:rPr>
              <a:t>SMS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8992" y="25420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SMS Test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07792" y="2542032"/>
            <a:ext cx="5870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Text "TEFF YELLOW SPOTS" via Africa's Talking — receive full AI diagnosis by SMS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6032" y="3090672"/>
            <a:ext cx="8631936" cy="1719072"/>
          </a:xfrm>
          <a:prstGeom prst="roundRect">
            <a:avLst>
              <a:gd name="adj" fmla="val 5319"/>
            </a:avLst>
          </a:prstGeom>
          <a:solidFill>
            <a:srgbClr val="142B10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3090672"/>
            <a:ext cx="749808" cy="1719072"/>
          </a:xfrm>
          <a:prstGeom prst="roundRect">
            <a:avLst>
              <a:gd name="adj" fmla="val 7317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 rot="16200000">
            <a:off x="256032" y="3090672"/>
            <a:ext cx="74980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D2B05"/>
                </a:solidFill>
              </a:rPr>
              <a:t>PARTNER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" y="3182112"/>
            <a:ext cx="7662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</a:rPr>
              <a:t>Looking for Partners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115568" y="3529584"/>
            <a:ext cx="7662672" cy="18288"/>
          </a:xfrm>
          <a:prstGeom prst="rect">
            <a:avLst/>
          </a:prstGeom>
          <a:solidFill>
            <a:srgbClr val="3A5A20"/>
          </a:solidFill>
          <a:ln w="12700">
            <a:solidFill>
              <a:srgbClr val="3A5A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15568" y="3657600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16736" y="3639312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Gov &amp; Agriculture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316736" y="3895344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Ministry of Agriculture (MoA)  |  EIAR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31536" y="3657600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32704" y="3639312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Universities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632704" y="3895344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Jimma  |  Hawassa  |  Haramaya  |  Dilla  |  AAU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115568" y="4261104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16736" y="42428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Agricultural Research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316736" y="4498848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Areka  |  Werabe  |  Holeta  |  Melkassa  |  JARC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31536" y="4261104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32704" y="42428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NGOs &amp; International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632704" y="4498848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SOS Sahel  |  FAO  |  CGIAR  |  CIP  |  CABI  |  USAID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64408" y="4864608"/>
            <a:ext cx="109728" cy="438912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5576" y="4846320"/>
            <a:ext cx="4059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DC7A"/>
                </a:solidFill>
              </a:rPr>
              <a:t>Technology &amp; ICT4D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65576" y="5102352"/>
            <a:ext cx="4059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CCAA"/>
                </a:solidFill>
              </a:rPr>
              <a:t>AI/ML labs  |  Agritech accelerators  |  ICT4D East Africa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sebilai.com  |  gulilatkasiye4@gmail.com  |  +251 704 161 402  |  Hawassa, Ethiopia  |  (c) 2026 Gulilat Kasiye Worku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SebilAI — Ethiopian Crop Disease AI</dc:title>
  <dc:subject>PptxGenJS Presentation</dc:subject>
  <dc:creator>Gulilat Kasiye Worku</dc:creator>
  <cp:lastModifiedBy>Gulilat Kasiye Worku</cp:lastModifiedBy>
  <cp:revision>1</cp:revision>
  <dcterms:created xsi:type="dcterms:W3CDTF">2026-05-24T05:19:53Z</dcterms:created>
  <dcterms:modified xsi:type="dcterms:W3CDTF">2026-05-24T05:19:53Z</dcterms:modified>
</cp:coreProperties>
</file>