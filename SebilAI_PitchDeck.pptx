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-457200"/>
            <a:ext cx="4114800" cy="4114800"/>
          </a:xfrm>
          <a:prstGeom prst="ellipse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2011680"/>
            <a:ext cx="2926080" cy="2926080"/>
          </a:xfrm>
          <a:prstGeom prst="ellipse">
            <a:avLst/>
          </a:prstGeom>
          <a:solidFill>
            <a:srgbClr val="1A4A08"/>
          </a:solidFill>
          <a:ln w="12700">
            <a:solidFill>
              <a:srgbClr val="1A4A0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457200"/>
            <a:ext cx="3291840" cy="329184"/>
          </a:xfrm>
          <a:prstGeom prst="roundRect">
            <a:avLst>
              <a:gd name="adj" fmla="val 38889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572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B8DC7A"/>
                </a:solidFill>
              </a:rPr>
              <a:t>🌱  COMPETITION PITCH · MAY 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9144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spc="300" kern="0" dirty="0">
                <a:solidFill>
                  <a:srgbClr val="FFFFFF"/>
                </a:solidFill>
              </a:rPr>
              <a:t>SebilAI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320040" y="20116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B8DC7A"/>
                </a:solidFill>
              </a:rPr>
              <a:t>ሰብሊAI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0040" y="26334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Ethiopian Crop Disease AI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0040" y="31089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CC66"/>
                </a:solidFill>
              </a:rPr>
              <a:t>Localized · Offline-First · Built for 15M Ethiopian Farmers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611880"/>
            <a:ext cx="1600200" cy="475488"/>
          </a:xfrm>
          <a:prstGeom prst="roundRect">
            <a:avLst>
              <a:gd name="adj" fmla="val 1923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639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DC7A"/>
                </a:solidFill>
              </a:rPr>
              <a:t>87%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" y="38404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Accuracy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057400" y="3611880"/>
            <a:ext cx="1600200" cy="475488"/>
          </a:xfrm>
          <a:prstGeom prst="roundRect">
            <a:avLst>
              <a:gd name="adj" fmla="val 1923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57400" y="3639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DC7A"/>
                </a:solidFill>
              </a:rPr>
              <a:t>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57400" y="38404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Languages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94760" y="3611880"/>
            <a:ext cx="1600200" cy="475488"/>
          </a:xfrm>
          <a:prstGeom prst="roundRect">
            <a:avLst>
              <a:gd name="adj" fmla="val 1923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3639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DC7A"/>
                </a:solidFill>
              </a:rPr>
              <a:t>1,247+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794760" y="38404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Diagnoses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532120" y="3611880"/>
            <a:ext cx="1600200" cy="475488"/>
          </a:xfrm>
          <a:prstGeom prst="roundRect">
            <a:avLst>
              <a:gd name="adj" fmla="val 1923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3639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DC7A"/>
                </a:solidFill>
              </a:rPr>
              <a:t>42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532120" y="38404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Diseases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269480" y="3611880"/>
            <a:ext cx="1600200" cy="475488"/>
          </a:xfrm>
          <a:prstGeom prst="roundRect">
            <a:avLst>
              <a:gd name="adj" fmla="val 1923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3639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DC7A"/>
                </a:solidFill>
              </a:rPr>
              <a:t>Free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69480" y="384048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Always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20040" y="42245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8844"/>
                </a:solidFill>
              </a:rPr>
              <a:t>Gulilat Kasiye Worku · Hawassa, Ethiopia · sebilai.com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201168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201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🌍  THE PROBLEM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84048" y="16459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 Crisis Hidden in Plain Sight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416052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5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15568"/>
            <a:ext cx="82296" cy="13533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0700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🌾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143000" y="1207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1A0E"/>
                </a:solidFill>
              </a:rPr>
              <a:t>15 Million Families at Risk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1591056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728"/>
                </a:solidFill>
              </a:rPr>
              <a:t>Enset, Teff, Wheat, Maize — crops entire communities depend on — face constant disease threats with no local AI support.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115568"/>
            <a:ext cx="416052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5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1115568"/>
            <a:ext cx="82296" cy="13533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20700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📉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77840" y="1207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1A0E"/>
                </a:solidFill>
              </a:rPr>
              <a:t>40–70% Crop Loss When Late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92040" y="1591056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728"/>
                </a:solidFill>
              </a:rPr>
              <a:t>Diseases detected too late devastate entire seasons. A single outbreak of Enset Bacterial Wilt can wipe out 3–5 years of a family's food source.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596896"/>
            <a:ext cx="416052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5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596896"/>
            <a:ext cx="82296" cy="13533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8833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143000" y="26883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1A0E"/>
                </a:solidFill>
              </a:rPr>
              <a:t>No Tools Built for Ethiopia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072384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728"/>
                </a:solidFill>
              </a:rPr>
              <a:t>Existing solutions are English-only, require constant internet, and ignore Enset entirely — the crop that feeds 20M+ people in the south.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2596896"/>
            <a:ext cx="416052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5C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2596896"/>
            <a:ext cx="82296" cy="13533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268833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⏳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577840" y="26883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1A0E"/>
                </a:solidFill>
              </a:rPr>
              <a:t>Farmers Wait Days for Help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92040" y="3072384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728"/>
                </a:solidFill>
              </a:rPr>
              <a:t>Extension workers are scarce. Farmers in Sidama, Oromia, and Afar wait days for advice — losing critical treatment windows.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51376"/>
            <a:ext cx="8595360" cy="594360"/>
          </a:xfrm>
          <a:prstGeom prst="roundRect">
            <a:avLst>
              <a:gd name="adj" fmla="val 18462"/>
            </a:avLst>
          </a:prstGeom>
          <a:solidFill>
            <a:srgbClr val="FFF3CD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41970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04672" y="4178808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5000"/>
                </a:solidFill>
              </a:rPr>
              <a:t>"I saw my neighbor lose his entire Enset farm to Bacterial Wilt in 2024. That pain is what drove me to build SebilAI."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04672" y="4617720"/>
            <a:ext cx="740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017"/>
                </a:solidFill>
              </a:rPr>
              <a:t>— Gulilat Kasiye Worku, Developer · Hawassa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© 2026 Gulilat Kasiye Worku — Hawassa, Ethiopia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0" y="0"/>
            <a:ext cx="530352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201168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201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⭐  OUR ADVANTAGE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0292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Makes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SebilAI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Different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9CC66"/>
                </a:solidFill>
              </a:rPr>
              <a:t>Built from lived experience.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9CC66"/>
                </a:solidFill>
              </a:rPr>
              <a:t>Grounded in Ethiopian science.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9CC66"/>
                </a:solidFill>
              </a:rPr>
              <a:t>Designed for Ethiopian reality.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3200400"/>
            <a:ext cx="3337560" cy="804672"/>
          </a:xfrm>
          <a:prstGeom prst="roundRect">
            <a:avLst>
              <a:gd name="adj" fmla="val 1363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327355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41248" y="32735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Gulilat Kasiye Worku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354787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C7A"/>
                </a:solidFill>
              </a:rPr>
              <a:t>Ethiopian Developer · Hawassa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40480" y="0"/>
            <a:ext cx="54864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9080" y="182880"/>
            <a:ext cx="4800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5 Reasons SebilAI Wins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041648" y="749808"/>
            <a:ext cx="4800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E8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41648" y="749808"/>
            <a:ext cx="548640" cy="713232"/>
          </a:xfrm>
          <a:prstGeom prst="roundRect">
            <a:avLst>
              <a:gd name="adj" fmla="val 10000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41648" y="74980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🏡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45152" y="7955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Built by a local from Hawassa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45152" y="1069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Understands Enset, Teff, and Ethiopian farming realities firsthand — not from a textbook.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041648" y="1554480"/>
            <a:ext cx="4800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E8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41648" y="1554480"/>
            <a:ext cx="548640" cy="713232"/>
          </a:xfrm>
          <a:prstGeom prst="roundRect">
            <a:avLst>
              <a:gd name="adj" fmla="val 10000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41648" y="155448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645152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23+ Ethiopian Research Papers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45152" y="1874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EIAR, Jimma University, Hawassa University, Werabe ARC — the deepest local knowledge base.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041648" y="2359152"/>
            <a:ext cx="4800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E8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41648" y="2359152"/>
            <a:ext cx="548640" cy="713232"/>
          </a:xfrm>
          <a:prstGeom prst="roundRect">
            <a:avLst>
              <a:gd name="adj" fmla="val 10000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41648" y="2359152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645152" y="2404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6 Languages — Truly Local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45152" y="26791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Amharic, Afaan Oromo, Tigrinya, Somali, Afar — not just translated, properly localized.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41648" y="3163824"/>
            <a:ext cx="4800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E8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41648" y="3163824"/>
            <a:ext cx="548640" cy="713232"/>
          </a:xfrm>
          <a:prstGeom prst="roundRect">
            <a:avLst>
              <a:gd name="adj" fmla="val 10000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41648" y="316382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📴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645152" y="32095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Works Offline in Remote Areas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45152" y="348386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42 diseases fully diagnosed without internet. Critical for farmers in low-connectivity woredas.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041648" y="3968496"/>
            <a:ext cx="4800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E8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41648" y="3968496"/>
            <a:ext cx="548640" cy="713232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41648" y="396849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645152" y="40142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Real ETB Impact per Farmer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45152" y="428853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Shows exactly how much yield loss was prevented in Ethiopian Birr — concrete, motivating value.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© 2026 Gulilat Kasiye Worku — Hawassa, Ethiopia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201168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201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✅  THE SOLUTION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84048" y="16459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SebilAI — Built Specifically for Ethiopia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84048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DC7A"/>
                </a:solidFill>
              </a:rPr>
              <a:t>One photo. 10 seconds. A 7-day action plan. In your language.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23444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130759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3075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51560" y="12893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Triple AI Fallback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15819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Groq Llama 4 → OpenRouter → Gemini Vision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09160" y="123444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82312" y="130759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13075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🛰️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0" y="12893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Satellite NDVI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0" y="15819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Google Earth Engine Sentinel-2 field analysis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210312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217627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21762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51560" y="21579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Weather Risk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1560" y="24505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Real-time disease risk from Open-Meteo data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210312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17627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1762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0" y="21579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6 Languages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24505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EN · አማርኛ · Oromiffa · ትግርኛ · Soomaali · Qafar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97180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7472" y="304495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30449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51560" y="30266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SMS Diagnosis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51560" y="33192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Feature phones — no smartphone or internet needed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97180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82312" y="304495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82312" y="30449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📴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486400" y="30266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Full Offline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0" y="33192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42 diseases, 8 crops — zero internet required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384048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7472" y="39136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" y="391363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📸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051560" y="38953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Follow-Up Tracker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51560" y="418795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7-day before/after crop recovery tracking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09160" y="3840480"/>
            <a:ext cx="4160520" cy="749808"/>
          </a:xfrm>
          <a:prstGeom prst="roundRect">
            <a:avLst>
              <a:gd name="adj" fmla="val 1463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82312" y="39136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391363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5486400" y="38953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Disease Heatmap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0" y="418795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Live community outbreak map across Ethiopia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© 2026 Gulilat Kasiye Worku — Hawassa, Ethiopia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201168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201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📊  VALIDATION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84048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Real Numbers. Real Farmers. Real Ethiopia.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56032" y="1078992"/>
            <a:ext cx="18745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078992"/>
            <a:ext cx="73152" cy="10058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338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6A0A"/>
                </a:solidFill>
              </a:rPr>
              <a:t>87%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93192" y="16733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Agronomist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Agreement (n=120)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432304" y="1078992"/>
            <a:ext cx="18745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1078992"/>
            <a:ext cx="73152" cy="1005840"/>
          </a:xfrm>
          <a:prstGeom prst="rect">
            <a:avLst/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9464" y="11338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8F1F"/>
                </a:solidFill>
              </a:rPr>
              <a:t>42%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569464" y="16733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Avg Yield Loss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Reduced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08576" y="1078992"/>
            <a:ext cx="18745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08576" y="1078992"/>
            <a:ext cx="73152" cy="1005840"/>
          </a:xfrm>
          <a:prstGeom prst="rect">
            <a:avLst/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45736" y="11338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6B5A"/>
                </a:solidFill>
              </a:rPr>
              <a:t>1,247+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45736" y="16733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Diagnoses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Made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84848" y="1078992"/>
            <a:ext cx="18745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84848" y="1078992"/>
            <a:ext cx="73152" cy="1005840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11338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6914"/>
                </a:solidFill>
              </a:rPr>
              <a:t>6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922008" y="16733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Ethiopian Languages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Fully Supported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56032" y="2212848"/>
            <a:ext cx="8631936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0E8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2860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1A0E"/>
                </a:solidFill>
              </a:rPr>
              <a:t>How SebilAI Compares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2651760"/>
            <a:ext cx="2103120" cy="27432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651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Feature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06040" y="2651760"/>
            <a:ext cx="2286000" cy="27432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SebilAI ✨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74920" y="2651760"/>
            <a:ext cx="1828800" cy="27432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CABI Plantwise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2651760"/>
            <a:ext cx="1920240" cy="27432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Extension Worker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2944368"/>
            <a:ext cx="210312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9443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Languages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606040" y="2944368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51760" y="29443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✅ 6 Ethiopian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074920" y="2944368"/>
            <a:ext cx="182880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20640" y="29443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❌ English only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132320" y="2944368"/>
            <a:ext cx="192024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2944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✅ Local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" y="3145536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1455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Response time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606040" y="3145536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51760" y="31455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⚡ 10 seconds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074920" y="3145536"/>
            <a:ext cx="18288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31455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⏱️ Days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132320" y="3145536"/>
            <a:ext cx="19202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78040" y="31455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⏱️ Days + travel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20040" y="3346704"/>
            <a:ext cx="210312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33467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Works offline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606040" y="3346704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51760" y="334670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✅ Full PWA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074920" y="3346704"/>
            <a:ext cx="182880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064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❌ No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132320" y="3346704"/>
            <a:ext cx="192024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040" y="33467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✅ 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0040" y="3547872"/>
            <a:ext cx="21031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35478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Satellite NDVI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606040" y="3547872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651760" y="35478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✅ GEE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074920" y="3547872"/>
            <a:ext cx="18288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20640" y="35478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❌ No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132320" y="3547872"/>
            <a:ext cx="19202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04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❌ No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20040" y="3749040"/>
            <a:ext cx="210312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5760" y="37490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SMS / Feature phones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606040" y="3749040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51760" y="3749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✅ Yes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5074920" y="3749040"/>
            <a:ext cx="182880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20640" y="37490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❌ No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132320" y="3749040"/>
            <a:ext cx="1920240" cy="201168"/>
          </a:xfrm>
          <a:prstGeom prst="rect">
            <a:avLst/>
          </a:prstGeom>
          <a:solidFill>
            <a:srgbClr val="F0F8E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78040" y="3749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❌ No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256032" y="3968496"/>
            <a:ext cx="863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99999"/>
                </a:solidFill>
              </a:rPr>
              <a:t>Pilot: Oromia · SNNPR · Amhara · May 2025–May 2026 · 120 field validations · 8 crop types · 23+ Ethiopian studies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© 2026 Gulilat Kasiye Worku — Hawassa, Ethiopia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201168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201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⚙️  HOW IT WORKS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84048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From Photo to Treatment Plan in 10 Seconds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56032" y="841248"/>
            <a:ext cx="2761488" cy="1783080"/>
          </a:xfrm>
          <a:prstGeom prst="roundRect">
            <a:avLst>
              <a:gd name="adj" fmla="val 615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932688"/>
            <a:ext cx="502920" cy="50292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32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91440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🌱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93192" y="149961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Select Crop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3192" y="184708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Choose from 8 Ethiopian crops — each with its own disease knowledge base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0" y="841248"/>
            <a:ext cx="2761488" cy="1783080"/>
          </a:xfrm>
          <a:prstGeom prst="roundRect">
            <a:avLst>
              <a:gd name="adj" fmla="val 615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932688"/>
            <a:ext cx="502920" cy="50292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932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58768" y="91440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337560" y="149961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Upload Photo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184708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AI vision inspects the image for 42 known disease patterns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44768" y="841248"/>
            <a:ext cx="2761488" cy="1783080"/>
          </a:xfrm>
          <a:prstGeom prst="roundRect">
            <a:avLst>
              <a:gd name="adj" fmla="val 615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36208" y="932688"/>
            <a:ext cx="502920" cy="50292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36208" y="932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03136" y="91440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🎤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281928" y="149961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Describe Symptoms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81928" y="184708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Tap symptom chips or speak in your language — voice works in all 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6032" y="2779776"/>
            <a:ext cx="2761488" cy="1783080"/>
          </a:xfrm>
          <a:prstGeom prst="roundRect">
            <a:avLst>
              <a:gd name="adj" fmla="val 615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2871216"/>
            <a:ext cx="502920" cy="50292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2871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2852928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🌍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393192" y="34381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Add Farm Context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" y="378561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Region, rainfall, season — improves accuracy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0" y="2779776"/>
            <a:ext cx="2761488" cy="1783080"/>
          </a:xfrm>
          <a:prstGeom prst="roundRect">
            <a:avLst>
              <a:gd name="adj" fmla="val 615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2871216"/>
            <a:ext cx="502920" cy="50292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2871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858768" y="2852928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3337560" y="34381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AI Diagnoses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337560" y="378561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Groq + Satellite NDVI + Weather → confidence-scored result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144768" y="2779776"/>
            <a:ext cx="2761488" cy="1783080"/>
          </a:xfrm>
          <a:prstGeom prst="roundRect">
            <a:avLst>
              <a:gd name="adj" fmla="val 6154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36208" y="2871216"/>
            <a:ext cx="502920" cy="50292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36208" y="2871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803136" y="2852928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6281928" y="34381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7-Day Action Plan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281928" y="378561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Step-by-step treatment + ETB savings estimate in your language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© 2026 Gulilat Kasiye Worku — Hawassa, Ethiopia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84048" y="201168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201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🛠️  TECHNOLOGY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84048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Enterprise-Grade AI Stack for Ethiopian Agriculture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56032" y="1078992"/>
            <a:ext cx="2286000" cy="420624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078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🤖 AI Engine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78608" y="1078992"/>
            <a:ext cx="6309360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1078992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Groq Llama 4 Scout 17B → OpenRouter → Gemini 2.0 Flash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" y="1563624"/>
            <a:ext cx="2286000" cy="420624"/>
          </a:xfrm>
          <a:prstGeom prst="rect">
            <a:avLst/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156362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🛰️ Satellite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78608" y="1563624"/>
            <a:ext cx="6309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1563624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Google Earth Engine — Sentinel-2 NDVI (JWT-authenticated REST)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6032" y="2048256"/>
            <a:ext cx="2286000" cy="420624"/>
          </a:xfrm>
          <a:prstGeom prst="rect">
            <a:avLst/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204825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☁️ Weather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78608" y="2048256"/>
            <a:ext cx="6309360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048256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Open-Meteo real-time — humidity + temp + rain → crop disease risk score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6032" y="2532888"/>
            <a:ext cx="2286000" cy="420624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25328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🗺️ Community Map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78608" y="2532888"/>
            <a:ext cx="6309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97480" y="2532888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Leaflet.js — anonymized outbreak heatmap from community reports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6032" y="3017520"/>
            <a:ext cx="2286000" cy="420624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30175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📱 SMS Diagnosis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78608" y="3017520"/>
            <a:ext cx="6309360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97480" y="3017520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Africa's Talking — feature phone diagnosis via text message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3502152"/>
            <a:ext cx="2286000" cy="42062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🔔 Push + SMS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78608" y="3502152"/>
            <a:ext cx="6309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3502152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Web Push (VAPID) + Africa's Talking auto-alerts in all 6 languages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3986784"/>
            <a:ext cx="2286000" cy="420624"/>
          </a:xfrm>
          <a:prstGeom prst="rect">
            <a:avLst/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398678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📴 Offline PWA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78608" y="3986784"/>
            <a:ext cx="6309360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97480" y="3986784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Service Worker v4 + IndexedDB v5 — 42 diseases, zero internet needed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56032" y="4471416"/>
            <a:ext cx="2286000" cy="420624"/>
          </a:xfrm>
          <a:prstGeom prst="rect">
            <a:avLst/>
          </a:prstGeom>
          <a:solidFill>
            <a:srgbClr val="4A3728"/>
          </a:solidFill>
          <a:ln w="12700">
            <a:solidFill>
              <a:srgbClr val="4A37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032" y="447141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⚙️ Backend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78608" y="4471416"/>
            <a:ext cx="6309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97480" y="4471416"/>
            <a:ext cx="6080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Node.js + Express + SQLite — 41 endpoints, rate limiting, full persistence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© 2026 Gulilat Kasiye Worku — Hawassa, Ethiopia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201168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201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💼  BUSINESS MODEL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84048" y="164592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Sustainable · Scalable · Mission-Aligned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56032" y="804672"/>
            <a:ext cx="4160520" cy="932688"/>
          </a:xfrm>
          <a:prstGeom prst="roundRect">
            <a:avLst>
              <a:gd name="adj" fmla="val 11765"/>
            </a:avLst>
          </a:prstGeom>
          <a:solidFill>
            <a:srgbClr val="1A3A08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896112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" y="89611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🌾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188720" y="89611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Free for Farmers — Always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120700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Core mission: food security. Farmers never pay. SebilAI is a public good.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90872" y="804672"/>
            <a:ext cx="4160520" cy="932688"/>
          </a:xfrm>
          <a:prstGeom prst="roundRect">
            <a:avLst>
              <a:gd name="adj" fmla="val 11765"/>
            </a:avLst>
          </a:prstGeom>
          <a:solidFill>
            <a:srgbClr val="1A3A08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64024" y="896112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64024" y="89611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623560" y="89611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Gov / NGO API Access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23560" y="120700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Paid API for MoA, EIAR, NGOs — bulk diagnosis, regional dashboards, research data.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" y="1856232"/>
            <a:ext cx="4160520" cy="932688"/>
          </a:xfrm>
          <a:prstGeom prst="roundRect">
            <a:avLst>
              <a:gd name="adj" fmla="val 11765"/>
            </a:avLst>
          </a:prstGeom>
          <a:solidFill>
            <a:srgbClr val="1A3A08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9184" y="1947672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" y="194767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188720" y="194767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Anonymized Disease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88720" y="225856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Aggregate disease trend data for World Bank, CGIAR, international ag research.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90872" y="1856232"/>
            <a:ext cx="4160520" cy="932688"/>
          </a:xfrm>
          <a:prstGeom prst="roundRect">
            <a:avLst>
              <a:gd name="adj" fmla="val 11765"/>
            </a:avLst>
          </a:prstGeom>
          <a:solidFill>
            <a:srgbClr val="1A3A08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64024" y="1947672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64024" y="194767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623560" y="194767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Grants &amp; Impact Investment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23560" y="225856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Tony Elumelu, UN WFP, USAID, World Bank. Currently applying to 5 programs.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" y="2944368"/>
            <a:ext cx="8631936" cy="256032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" y="2944368"/>
            <a:ext cx="863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B8DC7A"/>
                </a:solidFill>
              </a:rPr>
              <a:t>PRODUCT ROADMAP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" y="3273552"/>
            <a:ext cx="1417320" cy="347472"/>
          </a:xfrm>
          <a:prstGeom prst="roundRect">
            <a:avLst>
              <a:gd name="adj" fmla="val 26316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327355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✅ NOW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783080" y="3291840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Core AI + 6 Languages + Satellite + SMS + Weather + Disease Heatmap + Cooperative Mode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3712464"/>
            <a:ext cx="1417320" cy="347472"/>
          </a:xfrm>
          <a:prstGeom prst="roundRect">
            <a:avLst>
              <a:gd name="adj" fmla="val 26316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37124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💬 Q3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783080" y="3730752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WhatsApp Bot + TF.js On-Device Models (training data from EIAR/Jimma)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4151376"/>
            <a:ext cx="1417320" cy="347472"/>
          </a:xfrm>
          <a:prstGeom prst="roundRect">
            <a:avLst>
              <a:gd name="adj" fmla="val 26316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6032" y="415137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🏛️ 2027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783080" y="4169664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MoA Extension Worker Integration + PostgreSQL + National Woreda Coverage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© 2026 Gulilat Kasiye Worku — Hawassa, Ethiopia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-914400"/>
            <a:ext cx="5029200" cy="5029200"/>
          </a:xfrm>
          <a:prstGeom prst="ellipse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28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rgbClr val="000000"/>
                </a:solidFill>
              </a:rPr>
              <a:t>🌿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325880" y="27432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</a:rPr>
              <a:t>SebilAI is Live.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1325880" y="11155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DC7A"/>
                </a:solidFill>
              </a:rPr>
              <a:t>Try it now. Validate it. Partner with us.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98448" y="1719072"/>
            <a:ext cx="7424928" cy="566928"/>
          </a:xfrm>
          <a:prstGeom prst="roundRect">
            <a:avLst>
              <a:gd name="adj" fmla="val 19355"/>
            </a:avLst>
          </a:prstGeom>
          <a:solidFill>
            <a:srgbClr val="1E4A08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98448" y="1719072"/>
            <a:ext cx="658368" cy="566928"/>
          </a:xfrm>
          <a:prstGeom prst="roundRect">
            <a:avLst>
              <a:gd name="adj" fmla="val 9677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8448" y="1719072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29968" y="17739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Live App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0" y="1773936"/>
            <a:ext cx="4956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sebilai.com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8448" y="2377440"/>
            <a:ext cx="7424928" cy="566928"/>
          </a:xfrm>
          <a:prstGeom prst="roundRect">
            <a:avLst>
              <a:gd name="adj" fmla="val 19355"/>
            </a:avLst>
          </a:prstGeom>
          <a:solidFill>
            <a:srgbClr val="1E4A08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98448" y="2377440"/>
            <a:ext cx="658368" cy="566928"/>
          </a:xfrm>
          <a:prstGeom prst="roundRect">
            <a:avLst>
              <a:gd name="adj" fmla="val 967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8448" y="23774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029968" y="24323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Validated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2432304"/>
            <a:ext cx="4956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87% agronomist agreement · n=120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298448" y="3035808"/>
            <a:ext cx="7424928" cy="566928"/>
          </a:xfrm>
          <a:prstGeom prst="roundRect">
            <a:avLst>
              <a:gd name="adj" fmla="val 19355"/>
            </a:avLst>
          </a:prstGeom>
          <a:solidFill>
            <a:srgbClr val="1E4A08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98448" y="3035808"/>
            <a:ext cx="658368" cy="566928"/>
          </a:xfrm>
          <a:prstGeom prst="roundRect">
            <a:avLst>
              <a:gd name="adj" fmla="val 9677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30358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029968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SMS Test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3090672"/>
            <a:ext cx="4956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Text "TEFF YELLOW SPOTS" to our number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298448" y="3694176"/>
            <a:ext cx="7424928" cy="566928"/>
          </a:xfrm>
          <a:prstGeom prst="roundRect">
            <a:avLst>
              <a:gd name="adj" fmla="val 19355"/>
            </a:avLst>
          </a:prstGeom>
          <a:solidFill>
            <a:srgbClr val="1E4A08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98448" y="3694176"/>
            <a:ext cx="658368" cy="566928"/>
          </a:xfrm>
          <a:prstGeom prst="roundRect">
            <a:avLst>
              <a:gd name="adj" fmla="val 9677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98448" y="3694176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029968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Partner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0" y="3749040"/>
            <a:ext cx="4956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Open to EIAR · Jimma University · MoA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98448" y="4352544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8844"/>
                </a:solidFill>
              </a:rPr>
              <a:t>Gulilat Kasiye Worku · gulilatkasiye4@gmail.com · +251 704 161 402 · Hawassa, Ethiopia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SebilAI — Ethiopian Crop Disease AI</dc:title>
  <dc:subject>PptxGenJS Presentation</dc:subject>
  <dc:creator>Gulilat Kasiye Worku</dc:creator>
  <cp:lastModifiedBy>Gulilat Kasiye Worku</cp:lastModifiedBy>
  <cp:revision>1</cp:revision>
  <dcterms:created xsi:type="dcterms:W3CDTF">2026-05-24T04:46:09Z</dcterms:created>
  <dcterms:modified xsi:type="dcterms:W3CDTF">2026-05-24T04:46:09Z</dcterms:modified>
</cp:coreProperties>
</file>