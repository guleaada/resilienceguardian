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A05"/>
          </a:solidFill>
          <a:ln w="12700">
            <a:solidFill>
              <a:srgbClr val="1A3A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🌿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371600" y="36576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200" kern="0" dirty="0">
                <a:solidFill>
                  <a:srgbClr val="FFFFFF"/>
                </a:solidFill>
              </a:rPr>
              <a:t>SebilAI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1371600" y="12801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8DC7A"/>
                </a:solidFill>
              </a:rPr>
              <a:t>ሰብሊAI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Ethiopian Crop Disease AI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2286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C7A"/>
                </a:solidFill>
              </a:rPr>
              <a:t>Localized • Explainable • Evolving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0" y="2834640"/>
            <a:ext cx="1481328" cy="292608"/>
          </a:xfrm>
          <a:prstGeom prst="roundRect">
            <a:avLst>
              <a:gd name="adj" fmla="val 46875"/>
            </a:avLst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2834640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1A0E"/>
                </a:solidFill>
              </a:rPr>
              <a:t>87% Accuracy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44368" y="2834640"/>
            <a:ext cx="1481328" cy="292608"/>
          </a:xfrm>
          <a:prstGeom prst="roundRect">
            <a:avLst>
              <a:gd name="adj" fmla="val 46875"/>
            </a:avLst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2834640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1A0E"/>
                </a:solidFill>
              </a:rPr>
              <a:t>🌍 6 Languages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17136" y="2834640"/>
            <a:ext cx="1481328" cy="292608"/>
          </a:xfrm>
          <a:prstGeom prst="roundRect">
            <a:avLst>
              <a:gd name="adj" fmla="val 46875"/>
            </a:avLst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17136" y="2834640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1A0E"/>
                </a:solidFill>
              </a:rPr>
              <a:t>1,247 Diagnoses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9904" y="2834640"/>
            <a:ext cx="1481328" cy="292608"/>
          </a:xfrm>
          <a:prstGeom prst="roundRect">
            <a:avLst>
              <a:gd name="adj" fmla="val 46875"/>
            </a:avLst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9904" y="2834640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1A0E"/>
                </a:solidFill>
              </a:rPr>
              <a:t>42 Diseases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662672" y="2834640"/>
            <a:ext cx="1481328" cy="292608"/>
          </a:xfrm>
          <a:prstGeom prst="roundRect">
            <a:avLst>
              <a:gd name="adj" fmla="val 46875"/>
            </a:avLst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62672" y="2834640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1A0E"/>
                </a:solidFill>
              </a:rPr>
              <a:t>Free for Farmers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371600" y="4389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AAAAA"/>
                </a:solidFill>
              </a:rPr>
              <a:t>Gulilat Kasiye Worku  |  sebilai.com  |  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05"/>
          </a:solidFill>
          <a:ln w="12700">
            <a:solidFill>
              <a:srgbClr val="1A3A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98448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🌱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124358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05"/>
                </a:solidFill>
              </a:rPr>
              <a:t>15M farming families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depend on 8 crops that face constant disease threats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084832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21945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05840" y="213969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05"/>
                </a:solidFill>
              </a:rPr>
              <a:t>40–70% crop losses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450592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when disease is caught late — often wiping out a season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980944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09067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📵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05840" y="3035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05"/>
                </a:solidFill>
              </a:rPr>
              <a:t>No local AI tools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3346704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existing solutions are in English only, require internet, and miss Ethiopian crops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877056"/>
            <a:ext cx="85039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986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05840" y="3931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05"/>
                </a:solidFill>
              </a:rPr>
              <a:t>6 languages needed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4242816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Amharic, Oromo, Tigrinya, Somali, Afar — no single tool covers them all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" y="4892040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sebilai.com  |  gulilatkasiye4@gmail.com  |  © 2026 Gulilat Kasiye Worku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A05"/>
          </a:solidFill>
          <a:ln w="12700">
            <a:solidFill>
              <a:srgbClr val="1A3A0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The Solution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DC7A"/>
                </a:solidFill>
              </a:rPr>
              <a:t>SebilAI — built specifically for Ethiopia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35608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138074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Triple AI Fallback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691640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Groq → OpenRouter → Gemini Vision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800600" y="1325880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435608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🛰️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0" y="138074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Satellite NDVI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0" y="1691640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Google Earth Engine Sentinel-2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2221992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331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05840" y="2276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Weather Risk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258775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Real-time Open-Meteo disease risk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00600" y="2221992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2331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486400" y="22768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6 Languages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0" y="258775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EN AM OM TI SO AA — fully translated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3118104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22783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005840" y="317296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SMS Diagnosis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" y="3483864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Feature phones — text, get diagnosis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3118104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322783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📴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486400" y="317296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Works Offline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0" y="3483864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42 diseases, 8 crops — zero internet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20040" y="4014216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412394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📸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05840" y="4069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Follow-Up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5840" y="4379976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7-day before/after recovery tracker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014216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412394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486400" y="4069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DC7A"/>
                </a:solidFill>
              </a:rPr>
              <a:t>Disease Map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0" y="4379976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Live community heatmap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2880" y="4892040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sebilai.com  |  gulilatkasiye4@gmail.com  |  © 2026 Gulilat Kasiye Worku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📊 Validation &amp; Real Impact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F0F8EB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887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A0A"/>
                </a:solidFill>
              </a:rPr>
              <a:t>87%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7335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Agronomist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Agreement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(n=120)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1430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F0F8EB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11887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A0A"/>
                </a:solidFill>
              </a:rPr>
              <a:t>42%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23160" y="167335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Avg Yield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Loss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Reduced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26280" y="11430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F0F8EB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11887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A0A"/>
                </a:solidFill>
              </a:rPr>
              <a:t>1,247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26280" y="167335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Diagnoses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Made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(May 2026)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629400" y="11430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F0F8EB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11887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A0A"/>
                </a:solidFill>
              </a:rPr>
              <a:t>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629400" y="167335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Ethiopian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Languages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C1A0E"/>
                </a:solidFill>
              </a:rPr>
              <a:t>Supported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" y="2331720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3957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6A0A"/>
                </a:solidFill>
              </a:rPr>
              <a:t>Methodology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267004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444"/>
                </a:solidFill>
              </a:rPr>
              <a:t>Diagnoses cross-validated against expert agronomist assessments across Oromia, SNNPR and Amhara regions (May 2025–May 2026). Agreement rate measured on confirmed disease presence/absence per field visit. AI pipeline: Gemini Vision + GEE Satellite NDVI + Groq/OpenRouter fallback.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364992"/>
            <a:ext cx="85039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401568"/>
            <a:ext cx="1645920" cy="256032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401568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Feature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286000" y="3401568"/>
            <a:ext cx="2011680" cy="256032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34015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SebilAI ✨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754880" y="3401568"/>
            <a:ext cx="2011680" cy="256032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4015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CABI Plantwise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858000" y="3401568"/>
            <a:ext cx="2011680" cy="256032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0" y="34015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Extension Worker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3657600"/>
            <a:ext cx="1645920" cy="201168"/>
          </a:xfrm>
          <a:prstGeom prst="rect">
            <a:avLst/>
          </a:prstGeom>
          <a:solidFill>
            <a:srgbClr val="F8F8F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365760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Languages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0" y="3657600"/>
            <a:ext cx="201168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3657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6 Ethiopian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0" y="3657600"/>
            <a:ext cx="2011680" cy="201168"/>
          </a:xfrm>
          <a:prstGeom prst="rect">
            <a:avLst/>
          </a:prstGeom>
          <a:solidFill>
            <a:srgbClr val="F8F8F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0" y="3657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English only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0" y="3657600"/>
            <a:ext cx="2011680" cy="201168"/>
          </a:xfrm>
          <a:prstGeom prst="rect">
            <a:avLst/>
          </a:prstGeom>
          <a:solidFill>
            <a:srgbClr val="F8F8F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0" y="365760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Local (varies)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0" y="3877056"/>
            <a:ext cx="16459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0" y="3877056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Response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0" y="3877056"/>
            <a:ext cx="201168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38770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10 seconds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0" y="3877056"/>
            <a:ext cx="201168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0" y="38770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Days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0" y="3877056"/>
            <a:ext cx="201168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0" y="38770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Days + travel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0" y="4096512"/>
            <a:ext cx="1645920" cy="201168"/>
          </a:xfrm>
          <a:prstGeom prst="rect">
            <a:avLst/>
          </a:prstGeom>
          <a:solidFill>
            <a:srgbClr val="F8F8F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0" y="409651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Offline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0" y="4096512"/>
            <a:ext cx="201168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0" y="40965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Yes (PWA)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0" y="4096512"/>
            <a:ext cx="2011680" cy="201168"/>
          </a:xfrm>
          <a:prstGeom prst="rect">
            <a:avLst/>
          </a:prstGeom>
          <a:solidFill>
            <a:srgbClr val="F8F8F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0" y="40965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0" y="4096512"/>
            <a:ext cx="2011680" cy="201168"/>
          </a:xfrm>
          <a:prstGeom prst="rect">
            <a:avLst/>
          </a:prstGeom>
          <a:solidFill>
            <a:srgbClr val="F8F8F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0" y="409651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Yes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0" y="4315968"/>
            <a:ext cx="16459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0" y="43159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SMS Mode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0" y="4315968"/>
            <a:ext cx="2011680" cy="201168"/>
          </a:xfrm>
          <a:prstGeom prst="rect">
            <a:avLst/>
          </a:prstGeom>
          <a:solidFill>
            <a:srgbClr val="E8F5D8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0" y="431596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D6A0A"/>
                </a:solidFill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0" y="4315968"/>
            <a:ext cx="201168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0" y="431596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0" y="4315968"/>
            <a:ext cx="201168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0" y="431596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C1A0E"/>
                </a:solidFill>
              </a:rPr>
              <a:t>No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2880" y="4892040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sebilai.com  |  gulilatkasiye4@gmail.com  |  © 2026 Gulilat Kasiye Worku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A05"/>
          </a:solidFill>
          <a:ln w="12700">
            <a:solidFill>
              <a:srgbClr val="1A3A0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How SebilAI Works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1033272"/>
            <a:ext cx="640080" cy="64008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25880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1A0E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" y="170992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Select Crop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20574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BBBBB"/>
                </a:solidFill>
              </a:rPr>
              <a:t>Choose from 8 Ethiopian crops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96012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1033272"/>
            <a:ext cx="640080" cy="64008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0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1A0E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170992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Upload Photo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20574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BBBBB"/>
                </a:solidFill>
              </a:rPr>
              <a:t>AI inspects for disease signs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63640" y="96012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69480" y="1033272"/>
            <a:ext cx="640080" cy="64008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1A0E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63640" y="170992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Pick Symptoms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3640" y="205740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BBBBB"/>
                </a:solidFill>
              </a:rPr>
              <a:t>40 chips translated in all 6 languages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265176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5880" y="2724912"/>
            <a:ext cx="640080" cy="64008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25880" y="27249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1A0E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0040" y="340156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Add Context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0040" y="37490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BBBBB"/>
                </a:solidFill>
              </a:rPr>
              <a:t>Region, rainfall, farm conditions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91840" y="265176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7680" y="2724912"/>
            <a:ext cx="640080" cy="64008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0" y="27249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1A0E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340156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AI Diagnosis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37490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BBBBB"/>
                </a:solidFill>
              </a:rPr>
              <a:t>Groq Vision + Satellite NDVI + Weather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63640" y="265176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69480" y="2724912"/>
            <a:ext cx="640080" cy="640080"/>
          </a:xfrm>
          <a:prstGeom prst="ellipse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69480" y="27249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1A0E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263640" y="340156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7-Day Plan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63640" y="37490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BBBBB"/>
                </a:solidFill>
              </a:rPr>
              <a:t>Action steps + ETB savings estimate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2880" y="4892040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sebilai.com  |  gulilatkasiye4@gmail.com  |  © 2026 Gulilat Kasiye Worku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DFAF5"/>
          </a:solidFill>
          <a:ln w="12700">
            <a:solidFill>
              <a:srgbClr val="FDFA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3A05"/>
          </a:solidFill>
          <a:ln w="12700">
            <a:solidFill>
              <a:srgbClr val="1A3A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🛠️ Technology Stack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24128"/>
            <a:ext cx="2377440" cy="402336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02412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🤖 AI Engine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24912" y="1024128"/>
            <a:ext cx="6126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1024128"/>
            <a:ext cx="5989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Groq Llama 4 Scout 17B → OpenRouter → Gemini 2.0 Flash (triple fallback)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" y="1499616"/>
            <a:ext cx="2377440" cy="402336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49961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🛰️ Satellite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24912" y="1499616"/>
            <a:ext cx="6126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88920" y="1499616"/>
            <a:ext cx="5989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Google Earth Engine — Sentinel-2 NDVI via JWT-authenticated REST API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1975104"/>
            <a:ext cx="2377440" cy="402336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97510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☁️ Weather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24912" y="1975104"/>
            <a:ext cx="6126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1975104"/>
            <a:ext cx="5989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Open-Meteo real-time — temperature, humidity, rain → crop disease risk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450592"/>
            <a:ext cx="2377440" cy="402336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450592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🗺️ Community Map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24912" y="2450592"/>
            <a:ext cx="6126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88920" y="2450592"/>
            <a:ext cx="5989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Leaflet.js — anonymized disease heatmap from community reports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2926080"/>
            <a:ext cx="2377440" cy="402336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92608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📱 SMS Diagnosis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24912" y="2926080"/>
            <a:ext cx="6126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2926080"/>
            <a:ext cx="5989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Africa's Talking webhook — feature phone diagnosis, no internet needed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3401568"/>
            <a:ext cx="2377440" cy="402336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401568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🔔 Push + SMS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4912" y="3401568"/>
            <a:ext cx="6126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88920" y="3401568"/>
            <a:ext cx="5989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Web Push (VAPID) + Africa's Talking auto-alerts in all 6 languages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3877056"/>
            <a:ext cx="2377440" cy="402336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3877056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📴 Offline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724912" y="3877056"/>
            <a:ext cx="6126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88920" y="3877056"/>
            <a:ext cx="5989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Service Worker v4 + IndexedDB v5 — 42 diseases work with zero internet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20040" y="4352544"/>
            <a:ext cx="2377440" cy="402336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4352544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⚙️ Backend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24912" y="4352544"/>
            <a:ext cx="6126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88920" y="4352544"/>
            <a:ext cx="5989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1A0E"/>
                </a:solidFill>
              </a:rPr>
              <a:t>Node.js + Express — 23 endpoints, file persistence, rate limiting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2880" y="4892040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sebilai.com  |  gulilatkasiye4@gmail.com  |  © 2026 Gulilat Kasiye Worku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A05"/>
          </a:solidFill>
          <a:ln w="12700">
            <a:solidFill>
              <a:srgbClr val="1A3A0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💼 Business Model &amp; Roadmap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🌾 Free for Farmers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</a:rPr>
              <a:t>Always free. Core mission is food security for Ethiopian smallholders.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🏛️ Gov / NGO API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92040" y="13716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</a:rPr>
              <a:t>Paid API for MoA, EIAR, NGOs — bulk diagnosis + regional dashboards.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201168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03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📊 Research Data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42316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</a:rPr>
              <a:t>Anonymized disease trend data for international ag organizations.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0" y="201168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2103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🤝 Grants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242316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</a:rPr>
              <a:t>World Bank, USAID, Tony Elumelu, UN WFP — currently applying to 5 programs.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154680"/>
            <a:ext cx="8503920" cy="256032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3154680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</a:rPr>
              <a:t>PRODUCT ROADMAP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3493008"/>
            <a:ext cx="1280160" cy="347472"/>
          </a:xfrm>
          <a:prstGeom prst="roundRect">
            <a:avLst>
              <a:gd name="adj" fmla="val 21053"/>
            </a:avLst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49300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✅ Now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91640" y="3493008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DDDDD"/>
                </a:solidFill>
              </a:rPr>
              <a:t>Core AI + 6 Languages + Satellite + SMS + Weather + Heatmap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3913632"/>
            <a:ext cx="1280160" cy="347472"/>
          </a:xfrm>
          <a:prstGeom prst="roundRect">
            <a:avLst>
              <a:gd name="adj" fmla="val 21053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9136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🔄 Q3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691640" y="3913632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DDDDD"/>
                </a:solidFill>
              </a:rPr>
              <a:t>WhatsApp Bot + TF.js local models (training data from EIAR)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4334256"/>
            <a:ext cx="1280160" cy="347472"/>
          </a:xfrm>
          <a:prstGeom prst="roundRect">
            <a:avLst>
              <a:gd name="adj" fmla="val 21053"/>
            </a:avLst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433425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📅 2027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91640" y="4334256"/>
            <a:ext cx="7040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DDDDD"/>
                </a:solidFill>
              </a:rPr>
              <a:t>MoA Extension Worker Network + PostgreSQL + Scale to all woredas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2D6A0A"/>
          </a:solidFill>
          <a:ln w="12700">
            <a:solidFill>
              <a:srgbClr val="2D6A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2880" y="4892040"/>
            <a:ext cx="8778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sebilai.com  |  gulilatkasiye4@gmail.com  |  © 2026 Gulilat Kasiye Worku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A05"/>
          </a:solidFill>
          <a:ln w="12700">
            <a:solidFill>
              <a:srgbClr val="1A3A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B8DC7A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3657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🌿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188720" y="320040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SebilAI is Live.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188720" y="9144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DC7A"/>
                </a:solidFill>
              </a:rPr>
              <a:t>Try it. Validate it. Partner with us.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8720" y="1600200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67335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🌐 Live App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91840" y="1673352"/>
            <a:ext cx="5303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sebilai.com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188720" y="2313432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238658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📊 Validate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2386584"/>
            <a:ext cx="5303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87% agronomist agreement, n=120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88720" y="3026664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3099816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📱 SMS Test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3099816"/>
            <a:ext cx="5303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Text "TEFF YELLOW SPOTS" to our number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88720" y="3739896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1E4A08"/>
          </a:solidFill>
          <a:ln w="12700">
            <a:solidFill>
              <a:srgbClr val="B8DC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3813048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DC7A"/>
                </a:solidFill>
              </a:rPr>
              <a:t>🤝 Partner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91840" y="3813048"/>
            <a:ext cx="5303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Open to EIAR, Jimma, MoA collaborations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45720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AAAAA"/>
                </a:solidFill>
              </a:rPr>
              <a:t>Gulilat Kasiye Worku  |  gulilatkasiye4@gmail.com  |  +251 704 161 402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SebilAI — Ethiopian Crop Disease AI</dc:title>
  <dc:subject>PptxGenJS Presentation</dc:subject>
  <dc:creator>Gulilat Kasiye Worku</dc:creator>
  <cp:lastModifiedBy>Gulilat Kasiye Worku</cp:lastModifiedBy>
  <cp:revision>1</cp:revision>
  <dcterms:created xsi:type="dcterms:W3CDTF">2026-05-23T19:13:49Z</dcterms:created>
  <dcterms:modified xsi:type="dcterms:W3CDTF">2026-05-23T19:13:49Z</dcterms:modified>
</cp:coreProperties>
</file>