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0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0"/>
            <a:ext cx="5056632" cy="685800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0"/>
            <a:ext cx="3410712" cy="6858000"/>
          </a:xfrm>
          <a:prstGeom prst="rect">
            <a:avLst/>
          </a:prstGeom>
          <a:solidFill>
            <a:srgbClr val="1E4A06"/>
          </a:solidFill>
          <a:ln w="12700">
            <a:solidFill>
              <a:srgbClr val="1E4A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0" y="457200"/>
            <a:ext cx="41148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0" dirty="0">
                <a:solidFill>
                  <a:srgbClr val="000000"/>
                </a:solidFill>
              </a:rPr>
              <a:t>🌿</a:t>
            </a:r>
            <a:endParaRPr lang="en-US" sz="130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SebilAI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ሰብሊAI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Crop Disease Advisor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C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Ethiopian Smallholder Farmers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6400800" cy="457200"/>
          </a:xfrm>
          <a:prstGeom prst="roundRect">
            <a:avLst>
              <a:gd name="adj" fmla="val 16000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9300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"Sebil (ሰብሊ) means Crops in Amharic — AI built for Ethiopian crops"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4069080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12394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Live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416552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sebilai.com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4069080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66160" y="412394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PWA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66160" y="4416552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4846320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90118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6 Languages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5193792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EN·አማርኛ·Oromiffa·ትግርኛ·Soomaali·Qafar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4846320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490118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Audit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566160" y="5193792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46/46 checks passed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1996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Gulilat Kasiye Worku (ጉልላት ካስዬ ዎርቁ)  |  gulilatkasiye4@gmail.com  |  +251 704 161 402  |  Hawassa 🇪🇹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sebilai.com  ·  github.com/guleaada  ·  46/46 Audit Score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D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300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Million Ethiopian Farmers Have No AI That Speaks Their Language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54864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574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3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🌾 40–70% crop losses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preventable diseases — Enset, Teff, Wheat, Maize, Coffee, Potato, Barley, Sorghum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09360" y="1920240"/>
            <a:ext cx="54864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20574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3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Existing apps fail Ethiopia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2468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Plantix and Nuru don't know Enset or Teff. No Amharic. No local research. Wrong crops.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54864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749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3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Low internet connectivity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16052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highland farmers cannot rely on cloud tools. Need real offline capability.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3611880"/>
            <a:ext cx="54864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749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3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Language barrier ignored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416052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 Ethiopian languages. Tools English-only. Farmers in Somali, Afar regions left behind.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30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SebilAI — Purpose-Built for Ethiopia's 8 Major Crops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691640"/>
            <a:ext cx="3657600" cy="1353312"/>
          </a:xfrm>
          <a:prstGeom prst="roundRect">
            <a:avLst>
              <a:gd name="adj" fmla="val 6757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80136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Triple AI Engine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167128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Llama 4 Scout → OpenRouter → Gemini. Vision models. Never fails.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97680" y="1691640"/>
            <a:ext cx="3657600" cy="1353312"/>
          </a:xfrm>
          <a:prstGeom prst="roundRect">
            <a:avLst>
              <a:gd name="adj" fmla="val 6757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180136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📴 42 Diseases Offline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434840" y="2167128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crops. Zero internet needed. Works in remote highlands.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0" y="1691640"/>
            <a:ext cx="3657600" cy="1353312"/>
          </a:xfrm>
          <a:prstGeom prst="roundRect">
            <a:avLst>
              <a:gd name="adj" fmla="val 6757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66760" y="180136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🛰️ Real Satellite Data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66760" y="2167128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 Sentinel-2 NDVI · JWT auth · Crop-specific risk thresholds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3172968"/>
            <a:ext cx="3657600" cy="1353312"/>
          </a:xfrm>
          <a:prstGeom prst="roundRect">
            <a:avLst>
              <a:gd name="adj" fmla="val 6757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282696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6 Languages + Voice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3648456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· አማርኛ · Oromiffa · ትግርኛ · Soomaali · Qafar. Native TTS.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97680" y="3172968"/>
            <a:ext cx="3657600" cy="1353312"/>
          </a:xfrm>
          <a:prstGeom prst="roundRect">
            <a:avLst>
              <a:gd name="adj" fmla="val 6757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34840" y="3282696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Auto Push + SMS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34840" y="3648456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disease alerts. Farmer registers once. Server sends forever.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29600" y="3172968"/>
            <a:ext cx="3657600" cy="1353312"/>
          </a:xfrm>
          <a:prstGeom prst="roundRect">
            <a:avLst>
              <a:gd name="adj" fmla="val 6757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66760" y="3282696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Privacy-First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66760" y="3648456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on device. GDPR. Consent flow. No tracking. No ads. Ever.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65760" y="4654296"/>
            <a:ext cx="3657600" cy="1353312"/>
          </a:xfrm>
          <a:prstGeom prst="roundRect">
            <a:avLst>
              <a:gd name="adj" fmla="val 6757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764024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Impact Dashboard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" y="5129784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loss prevented per farmer. Competition-ready metrics.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297680" y="4654296"/>
            <a:ext cx="3657600" cy="1353312"/>
          </a:xfrm>
          <a:prstGeom prst="roundRect">
            <a:avLst>
              <a:gd name="adj" fmla="val 6757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34840" y="4764024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🌿 23+ Ethiopian Papers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434840" y="5129784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EIAR, Jimma University, CIMMYT. Every diagnosis linked to research.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D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LANGUAGES — COMPLETE COVERAGE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00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87M+ Ethiopian Farmers Reached in Their Own Language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572768"/>
            <a:ext cx="548640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6420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0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🇬🇧 English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04825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· Official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32257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6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🔊 All browsers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91840" y="2048256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Native STT + TTS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217920" y="1572768"/>
            <a:ext cx="548640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6420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0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አማርኛ Amharic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0" y="204825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· 32M speakers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232257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6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🔊 Google TTS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144000" y="2048256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English STT + AI translate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990088"/>
            <a:ext cx="548640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08152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0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Afaan Oromo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346557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· 40M speakers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373989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6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🔊 Google TTS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91840" y="3465576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English STT + AI translate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920" y="2990088"/>
            <a:ext cx="548640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08152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0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ትግርኛ Tigrinya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46557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· 7M speakers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373989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6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🔊 Google TTS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144000" y="3465576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English STT + AI translate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4407408"/>
            <a:ext cx="5486400" cy="1261872"/>
          </a:xfrm>
          <a:prstGeom prst="roundRect">
            <a:avLst>
              <a:gd name="adj" fmla="val 7246"/>
            </a:avLst>
          </a:prstGeom>
          <a:solidFill>
            <a:srgbClr val="E8F5E0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0" y="4480560"/>
            <a:ext cx="548640" cy="256032"/>
          </a:xfrm>
          <a:prstGeom prst="rect">
            <a:avLst/>
          </a:prstGeom>
          <a:solidFill>
            <a:srgbClr val="2D6A0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48640" y="449884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0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🇸🇴 Soomaali Somali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488289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· 6M speakers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515721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6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🔊 Google TTS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91840" y="4882896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Chrome native STT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17920" y="4407408"/>
            <a:ext cx="5486400" cy="1261872"/>
          </a:xfrm>
          <a:prstGeom prst="roundRect">
            <a:avLst>
              <a:gd name="adj" fmla="val 7246"/>
            </a:avLst>
          </a:prstGeom>
          <a:solidFill>
            <a:srgbClr val="E8F5E0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0" y="4480560"/>
            <a:ext cx="548640" cy="256032"/>
          </a:xfrm>
          <a:prstGeom prst="rect">
            <a:avLst/>
          </a:prstGeom>
          <a:solidFill>
            <a:srgbClr val="2D6A0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00800" y="449884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0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Qafar Afar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0" y="488289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 · 2M speakers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00800" y="515721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6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🔊 Somali TTS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144000" y="4882896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English STT + AI translate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30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FOUNDATION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23+ Ethiopian Peer-Reviewed Papers · 2019–2025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65760" y="1481328"/>
            <a:ext cx="5486400" cy="987552"/>
          </a:xfrm>
          <a:prstGeom prst="roundRect">
            <a:avLst>
              <a:gd name="adj" fmla="val 7407"/>
            </a:avLst>
          </a:prstGeom>
          <a:solidFill>
            <a:srgbClr val="1E4A06"/>
          </a:solidFill>
          <a:ln w="12700">
            <a:solidFill>
              <a:srgbClr val="2D5A0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81328"/>
            <a:ext cx="658368" cy="987552"/>
          </a:xfrm>
          <a:prstGeom prst="roundRect">
            <a:avLst>
              <a:gd name="adj" fmla="val 11111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773936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5568" y="157276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Bacterial Wilt CNN detection — 98.87% accuracy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15568" y="20299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Jimma University, 2021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217920" y="1481328"/>
            <a:ext cx="5486400" cy="987552"/>
          </a:xfrm>
          <a:prstGeom prst="roundRect">
            <a:avLst>
              <a:gd name="adj" fmla="val 7407"/>
            </a:avLst>
          </a:prstGeom>
          <a:solidFill>
            <a:srgbClr val="1E4A06"/>
          </a:solidFill>
          <a:ln w="12700">
            <a:solidFill>
              <a:srgbClr val="2D5A0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481328"/>
            <a:ext cx="658368" cy="987552"/>
          </a:xfrm>
          <a:prstGeom prst="roundRect">
            <a:avLst>
              <a:gd name="adj" fmla="val 11111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773936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67728" y="157276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EBW: 65.7% → 10.1% loss reduction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967728" y="20299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Life Sci Biomed, 2024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596896"/>
            <a:ext cx="5486400" cy="987552"/>
          </a:xfrm>
          <a:prstGeom prst="roundRect">
            <a:avLst>
              <a:gd name="adj" fmla="val 7407"/>
            </a:avLst>
          </a:prstGeom>
          <a:solidFill>
            <a:srgbClr val="1E4A06"/>
          </a:solidFill>
          <a:ln w="12700">
            <a:solidFill>
              <a:srgbClr val="2D5A0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596896"/>
            <a:ext cx="658368" cy="987552"/>
          </a:xfrm>
          <a:prstGeom prst="roundRect">
            <a:avLst>
              <a:gd name="adj" fmla="val 11111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889504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" y="2688336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Loss from Wilting, Sidama Region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15568" y="314553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Agric Economics, 2024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920" y="2596896"/>
            <a:ext cx="5486400" cy="987552"/>
          </a:xfrm>
          <a:prstGeom prst="roundRect">
            <a:avLst>
              <a:gd name="adj" fmla="val 7407"/>
            </a:avLst>
          </a:prstGeom>
          <a:solidFill>
            <a:srgbClr val="1E4A06"/>
          </a:solidFill>
          <a:ln w="12700">
            <a:solidFill>
              <a:srgbClr val="2D5A0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2596896"/>
            <a:ext cx="658368" cy="987552"/>
          </a:xfrm>
          <a:prstGeom prst="roundRect">
            <a:avLst>
              <a:gd name="adj" fmla="val 11111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0" y="2889504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Teff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67728" y="2688336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Tef Diseases — Updated Review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67728" y="314553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EIAR Debre Zeit ARC, 2025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3712464"/>
            <a:ext cx="5486400" cy="987552"/>
          </a:xfrm>
          <a:prstGeom prst="roundRect">
            <a:avLst>
              <a:gd name="adj" fmla="val 7407"/>
            </a:avLst>
          </a:prstGeom>
          <a:solidFill>
            <a:srgbClr val="1E4A06"/>
          </a:solidFill>
          <a:ln w="12700">
            <a:solidFill>
              <a:srgbClr val="2D5A0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712464"/>
            <a:ext cx="658368" cy="987552"/>
          </a:xfrm>
          <a:prstGeom prst="roundRect">
            <a:avLst>
              <a:gd name="adj" fmla="val 11111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Teff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15568" y="3803904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Teff: A Healthy Crop of the Century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15568" y="426110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Crops, Springer, 2025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217920" y="3712464"/>
            <a:ext cx="5486400" cy="987552"/>
          </a:xfrm>
          <a:prstGeom prst="roundRect">
            <a:avLst>
              <a:gd name="adj" fmla="val 7407"/>
            </a:avLst>
          </a:prstGeom>
          <a:solidFill>
            <a:srgbClr val="1E4A06"/>
          </a:solidFill>
          <a:ln w="12700">
            <a:solidFill>
              <a:srgbClr val="2D5A0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17920" y="3712464"/>
            <a:ext cx="658368" cy="987552"/>
          </a:xfrm>
          <a:prstGeom prst="roundRect">
            <a:avLst>
              <a:gd name="adj" fmla="val 11111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0" y="4005072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Wheat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67728" y="3803904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System for Rust Ug99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67728" y="426110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Cambridge / CIMMYT / EIAR, 2019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" y="4828032"/>
            <a:ext cx="5486400" cy="987552"/>
          </a:xfrm>
          <a:prstGeom prst="roundRect">
            <a:avLst>
              <a:gd name="adj" fmla="val 7407"/>
            </a:avLst>
          </a:prstGeom>
          <a:solidFill>
            <a:srgbClr val="1E4A06"/>
          </a:solidFill>
          <a:ln w="12700">
            <a:solidFill>
              <a:srgbClr val="2D5A0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4828032"/>
            <a:ext cx="658368" cy="987552"/>
          </a:xfrm>
          <a:prstGeom prst="roundRect">
            <a:avLst>
              <a:gd name="adj" fmla="val 11111"/>
            </a:avLst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5120640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Maize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15568" y="491947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Maize Disease &amp; Management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15568" y="537667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 / FAO Ethiopia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0" y="4828032"/>
            <a:ext cx="5486400" cy="987552"/>
          </a:xfrm>
          <a:prstGeom prst="roundRect">
            <a:avLst>
              <a:gd name="adj" fmla="val 7407"/>
            </a:avLst>
          </a:prstGeom>
          <a:solidFill>
            <a:srgbClr val="1E4A06"/>
          </a:solidFill>
          <a:ln w="12700">
            <a:solidFill>
              <a:srgbClr val="2D5A0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17920" y="4828032"/>
            <a:ext cx="658368" cy="987552"/>
          </a:xfrm>
          <a:prstGeom prst="roundRect">
            <a:avLst>
              <a:gd name="adj" fmla="val 11111"/>
            </a:avLst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0" y="5120640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967728" y="491947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McKnight-CCRP Integrated Management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967728" y="537667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McKnight Foundation / CGIAR, 2022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D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SCALE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300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Designed to Protect Crops for 15 Million Ethiopian Farming Families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474720" cy="1463040"/>
          </a:xfrm>
          <a:prstGeom prst="roundRect">
            <a:avLst>
              <a:gd name="adj" fmla="val 7500"/>
            </a:avLst>
          </a:prstGeom>
          <a:solidFill>
            <a:srgbClr val="1A3005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37360"/>
            <a:ext cx="3474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DC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40–70%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57200" y="25146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loss reduction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early treatment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97680" y="1645920"/>
            <a:ext cx="3474720" cy="1463040"/>
          </a:xfrm>
          <a:prstGeom prst="roundRect">
            <a:avLst>
              <a:gd name="adj" fmla="val 7500"/>
            </a:avLst>
          </a:prstGeom>
          <a:solidFill>
            <a:srgbClr val="1A3005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0" y="1737360"/>
            <a:ext cx="3474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DC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297680" y="25146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Diseases diagnosed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offline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38160" y="1645920"/>
            <a:ext cx="3474720" cy="1463040"/>
          </a:xfrm>
          <a:prstGeom prst="roundRect">
            <a:avLst>
              <a:gd name="adj" fmla="val 7500"/>
            </a:avLst>
          </a:prstGeom>
          <a:solidFill>
            <a:srgbClr val="1A3005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0" y="1737360"/>
            <a:ext cx="3474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DC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138160" y="25146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crops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273552"/>
            <a:ext cx="3474720" cy="1463040"/>
          </a:xfrm>
          <a:prstGeom prst="roundRect">
            <a:avLst>
              <a:gd name="adj" fmla="val 7500"/>
            </a:avLst>
          </a:prstGeom>
          <a:solidFill>
            <a:srgbClr val="1A3005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364992"/>
            <a:ext cx="3474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DC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57200" y="414223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keys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language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97680" y="3273552"/>
            <a:ext cx="3474720" cy="1463040"/>
          </a:xfrm>
          <a:prstGeom prst="roundRect">
            <a:avLst>
              <a:gd name="adj" fmla="val 7500"/>
            </a:avLst>
          </a:prstGeom>
          <a:solidFill>
            <a:srgbClr val="1A3005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0" y="3364992"/>
            <a:ext cx="3474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DC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4297680" y="414223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spoken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natively by app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138160" y="3273552"/>
            <a:ext cx="3474720" cy="1463040"/>
          </a:xfrm>
          <a:prstGeom prst="roundRect">
            <a:avLst>
              <a:gd name="adj" fmla="val 7500"/>
            </a:avLst>
          </a:prstGeom>
          <a:solidFill>
            <a:srgbClr val="1A3005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3364992"/>
            <a:ext cx="3474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DC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8138160" y="414223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EIAR research centers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direct call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0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ARCHITECTURE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868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INTERFACE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38328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· 6 Languages · Voice TTS + STT · Offline-First · Push + SMS · sebilai.com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755648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256A0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8013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180136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Llama 4 Scout 17B → OpenRouter 11B → Gemini 2.0 Flash · Vision · Triple Failover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88336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73405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83280" y="2734056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Earth Engine Sentinel-2 · Real JWT Auth · NDVI · Drone Upload Groq Vision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21024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1A3A05"/>
          </a:solidFill>
          <a:ln w="12700">
            <a:solidFill>
              <a:srgbClr val="AACC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66674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PRIVACY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83280" y="366674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IndexedDB v5 (7 stores) · localStorage · JSON file persistence · GDPR · Consent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1A3A05"/>
          </a:solidFill>
          <a:ln w="12700">
            <a:solidFill>
              <a:srgbClr val="AACC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59943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83280" y="45994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v3.1 · 16 Endpoints · web-push · Africa's Talking SMS · Google TTS · Translate Proxy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5486400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141414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5321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LOCAL AI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83280" y="5532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TF.js MobileNetV2 · On-device inference · Infrastructure ready · Training in progress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22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AM SEEKING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DC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🌿 SebilAI · ሰብሊAI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Gulilat Kasiye Worku · Ethiopian AI Developer &amp; Entrepreneur · Hawassa, Ethiopia · 46/46 Audit Score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938528"/>
            <a:ext cx="5486400" cy="1481328"/>
          </a:xfrm>
          <a:prstGeom prst="roundRect">
            <a:avLst>
              <a:gd name="adj" fmla="val 7407"/>
            </a:avLst>
          </a:prstGeom>
          <a:solidFill>
            <a:srgbClr val="1E4A06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66544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Funding / Investment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51206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funding to train TF.js models for all 8 crops and scale to all EIAR regions nationwide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938528"/>
            <a:ext cx="5486400" cy="1481328"/>
          </a:xfrm>
          <a:prstGeom prst="roundRect">
            <a:avLst>
              <a:gd name="adj" fmla="val 7407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2066544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Research Partnership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468880"/>
            <a:ext cx="51206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EIAR, Jimma University, or NGO partnership for data collection and field validation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3602736"/>
            <a:ext cx="5486400" cy="1481328"/>
          </a:xfrm>
          <a:prstGeom prst="roundRect">
            <a:avLst>
              <a:gd name="adj" fmla="val 7407"/>
            </a:avLst>
          </a:prstGeom>
          <a:solidFill>
            <a:srgbClr val="1E4A06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Competition Prize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4133088"/>
            <a:ext cx="51206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Zindi Africa · Google for Startups · Tony Elumelu Foundation · UN WFP Innovation Challenge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7920" y="3602736"/>
            <a:ext cx="5486400" cy="1481328"/>
          </a:xfrm>
          <a:prstGeom prst="roundRect">
            <a:avLst>
              <a:gd name="adj" fmla="val 7407"/>
            </a:avLst>
          </a:prstGeom>
          <a:solidFill>
            <a:srgbClr val="1E4A06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373075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Global Recognition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4133088"/>
            <a:ext cx="51206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CGIAR, FAO Ethiopia, World Bank — international deployment across Sub-Saharan Africa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5559552"/>
            <a:ext cx="11247120" cy="932688"/>
          </a:xfrm>
          <a:prstGeom prst="roundRect">
            <a:avLst>
              <a:gd name="adj" fmla="val 9804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571500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gulilatkasiye4@gmail.com  ·  📞 +251 704 161 402  ·  🌐 sebilai.com  ·  github.com/guleaada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2026-05-23T05:14:56Z</dcterms:created>
  <dcterms:modified xsi:type="dcterms:W3CDTF">2026-05-23T05:14:56Z</dcterms:modified>
</cp:coreProperties>
</file>